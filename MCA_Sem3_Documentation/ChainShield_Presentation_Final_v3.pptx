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9FD8D9"/>
                </a:solidFill>
                <a:latin typeface="Times New Roman"/>
              </a:rPr>
              <a:t>A PROJECT REPORT ON  ·  MCA SEMESTER 3  ·  2026-27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Times New Roman"/>
              </a:rPr>
              <a:t>ChainShield Transportation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 i="1">
                <a:solidFill>
                  <a:srgbClr val="DDE6F3"/>
                </a:solidFill>
                <a:latin typeface="Times New Roman"/>
              </a:rPr>
              <a:t>Real-Time Disruption Prediction &amp; Route Optimisation for Logistics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594360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Prepared By (Group No. 59)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(D51 – 25004401110170)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Diya Shah  (D36 – 25003401110017)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Shruti Somani  (D42 – 25004401110259)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657600"/>
            <a:ext cx="438912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Guided By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Prof. Dhaval Shah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DE6F3"/>
                </a:solidFill>
                <a:latin typeface="Times New Roman"/>
              </a:rPr>
              <a:t>LJ Institute of Computer Application  |  Affiliated to LJK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Problem Definition · Objective of the New System · Core Components · Project Profile · Need of the New System · Scope of the New System · Advantages and Limitations of the Proposed System · Proposed Time Line Chart · Targeted Users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88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70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Requirement Determination and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136391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Requirement Determination · Requirement Specification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31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913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System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79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Use Case Diagram · Data Dictionary · User Interface Design · Report Design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5074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074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056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422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Coding Standards · Implementation Details · Output Screens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1645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645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1627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993392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66E7A"/>
                </a:solidFill>
                <a:latin typeface="Times New Roman"/>
              </a:rPr>
              <a:t>Test Cases</a:t>
            </a:r>
          </a:p>
        </p:txBody>
      </p:sp>
      <p:sp>
        <p:nvSpPr>
          <p:cNvPr id="27" name="Oval 26"/>
          <p:cNvSpPr/>
          <p:nvPr/>
        </p:nvSpPr>
        <p:spPr>
          <a:xfrm>
            <a:off x="6217920" y="2788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788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770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Proposed Enhancement</a:t>
            </a:r>
          </a:p>
        </p:txBody>
      </p:sp>
      <p:sp>
        <p:nvSpPr>
          <p:cNvPr id="30" name="Oval 29"/>
          <p:cNvSpPr/>
          <p:nvPr/>
        </p:nvSpPr>
        <p:spPr>
          <a:xfrm>
            <a:off x="6217920" y="3931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3931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913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Conclusion</a:t>
            </a:r>
          </a:p>
        </p:txBody>
      </p:sp>
      <p:sp>
        <p:nvSpPr>
          <p:cNvPr id="33" name="Oval 32"/>
          <p:cNvSpPr/>
          <p:nvPr/>
        </p:nvSpPr>
        <p:spPr>
          <a:xfrm>
            <a:off x="6217920" y="507492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507492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056632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Times New Roman"/>
              </a:rPr>
              <a:t>Bibliography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1.1 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Hundreds of shipments move at once across road, rail, sea and air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Exposed to weather, hub/port congestion, customs holds, breakdowns, sensitive cargo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Disruptions are noticed only after the delivery date has slipped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Manual tracking — phone calls, spreadsheets, e-mail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Late detection → fewer route options, higher recovery cost, lost trust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system scores risk continuously and recommends a corrective route in advance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1.2 Objective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Continuously analyse weather, congestion, cargo and history for every shipment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Detect disruptions early with a transparent weighted risk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Auto-generate ranked route options: hold, hub reroute,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Notify managers and field operators in real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Role-based dashboards for Admin, Manager and Field Operator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Low-cost, self-hosted deployment with Flask +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1.3 Core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 — 4-factor score every 60 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Disruption Manager — opens at MEDIUM, escalates at 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 — hold / hub reroute / mode switch, ranked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Notifications &amp; Chat — real-time over Socket.IO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Panel &amp; Reports — users, hubs, cargo, audit log, CSV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 — Gemini with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Live Map — positions, routes, disruption zones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1.4 Project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60020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Particulars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Details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Project Title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ChainShield Transportation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Group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Group No. 59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Team Members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Bhavik A. Visani (D51) · Diya Shah (D36) · Shruti Somani (D42)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Guide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Prof. Dhaval Shah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Domain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Logistics &amp; Supply Chain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Front End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HTML5, CSS3, Bootstrap 5, Jinja2, JavaScript, Leaflet.js, Chart.js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Back End / DB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Python 3.10, Flask, Flask-SQLAlchemy / 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Tools &amp; APIs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Socket.IO, APScheduler, Gemini API, OpenWeatherMap, Docker, Git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222222"/>
                          </a:solidFill>
                          <a:latin typeface="Times New Roman"/>
                        </a:rPr>
                        <a:t>Duration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22222"/>
                          </a:solidFill>
                          <a:latin typeface="Times New Roman"/>
                        </a:rPr>
                        <a:t>Aug 2026 – Nov 2026 (Semester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1.5 Need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Reactive monitoring — problems found after complaints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Tracking shows location, not upcoming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Weather, congestion, cargo and history data in silos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Rerouting based on guesswork, not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informed late by phone or radio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No audit trail of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1.6 Scope of the New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In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Risk scoring of every active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346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Auto disruption + ranked route solutions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8328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Manager, operator and admin dashboards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2335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3192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Shipment CRUD with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720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Reports with date filter + CSV export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1206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02920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assistant and live 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6692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577840"/>
            <a:ext cx="4860036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Demo mode for presentations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Out of scope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Live GPS / telematics hardware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Payment, billing and SLA modules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Multi-tenant (many companies)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1.7 Advantages and Limitations of the 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Advantages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Preemptive, not reactive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Transparent weighted scoring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Operator notified within 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Role-based views, less overload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Cheap, portable Docker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Near-real-time (60 s interval)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Public / simulated data feeds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 — single server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 answers are advisory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1.8 Proposed Time Line Chart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47472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  <a:gridCol w="445770"/>
              </a:tblGrid>
              <a:tr h="365760">
                <a:tc rowSpan="2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Sr.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Aug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Sep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Oct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Times New Roman"/>
                        </a:rPr>
                        <a:t>Nov 2026</a:t>
                      </a:r>
                    </a:p>
                  </a:txBody>
                  <a:tcPr marL="27432" marR="27432" anchor="ctr">
                    <a:solidFill>
                      <a:srgbClr val="1B2A4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W1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W2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W3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222222"/>
                          </a:solidFill>
                          <a:latin typeface="Times New Roman"/>
                        </a:rPr>
                        <a:t>W4</a:t>
                      </a:r>
                    </a:p>
                  </a:txBody>
                  <a:tcPr marL="27432" marR="27432" anchor="ctr">
                    <a:solidFill>
                      <a:srgbClr val="D9E2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Gathering (R.G.)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Requirement Analysis &amp; SRS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System Design (Use Case, DB, UI)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Environment &amp; Docker Setup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Coding / Development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UI Enhancement (Themes, Mobile)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Implementation / Deployment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Documentation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Final Review, Submission &amp; Viva</a:t>
                      </a:r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2E5AA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 marL="27432" marR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666E7A"/>
                </a:solidFill>
                <a:latin typeface="Times New Roman"/>
              </a:rPr>
              <a:t>W1 = days 1–7 · W2 = 8–14 · W3 = 15–21 · W4 = 22 to month-end · Documentation runs through every phase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1.9 Targeted Users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Administrator — users &amp; roles, hubs, cargo types, config, audit log; all manager rights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0487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Manager — creates shipments, reviews disruptions, applies route solution, reports,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1810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026664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Field Operators — Driver (road), Loco Pilot (rail), Pilot (air), Captain (sea)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3133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39896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Operators see only their shipments, update status, get instant route alerts, 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44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Scheduler (system actor) — scans risk every 60 s, opens disruptions, sends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257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66360"/>
            <a:ext cx="10744200" cy="7132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Indirect — customers, partners and management benefit from fewer delays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2.1 Requirement Determination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Sources: group discussion, study of manual tracking, analysis of user roles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Login required for every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Continuous, automatic risk evaluation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Auto disruption at MEDIUM (≥ 50), escalation at HIGH (≥ 70)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≥ 3 ranked route alternatives per disruption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Instant notification to field operators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Admin management + audit trail; demo mode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2. REQUIREMENT DETERMINATION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2.2 Requirement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Functional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Login + role-based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575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7660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Shipment CRUD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Scheduled risk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1762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2618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Auto disruption alerts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Ranked route solutions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777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8630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Real-time notifications &amp;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25780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16636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Admin CRUD + audit log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3786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46420"/>
            <a:ext cx="2965704" cy="4800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AI assistant, reports + CSV, live map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37304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37304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74464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Non-Functional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0184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8784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Performance — refresh ≤ 60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0184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48784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Usability — responsive, themes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0184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48784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Portability — Docker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20184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48784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Reliability — transactional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20184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48784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Security — hashing, CSRF, roles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0184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48784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Maintainability — blueprints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5968" y="1600200"/>
            <a:ext cx="3514344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25968" y="1600200"/>
            <a:ext cx="3514344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63128" y="1673352"/>
            <a:ext cx="3240024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Platform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08847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7448" y="228600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Python 3.10 + Flask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08847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7448" y="2852928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SQLite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08847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7448" y="3419856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Bootstrap 5, Leaflet, Chart.js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08847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7448" y="3986783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Docker + Gunicorn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08847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37448" y="4553712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Gemini + OpenWeatherMap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08847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7448" y="5120640"/>
            <a:ext cx="2965704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222222"/>
                </a:solidFill>
                <a:latin typeface="Times New Roman"/>
              </a:rPr>
              <a:t>Windows 11 / any Docker 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Use Case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14</a:t>
            </a:r>
          </a:p>
        </p:txBody>
      </p:sp>
      <p:pic>
        <p:nvPicPr>
          <p:cNvPr id="7" name="Picture 6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901" y="1463040"/>
            <a:ext cx="3522356" cy="48920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760720" y="1828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80759" y="173736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Actors: Admin, Manager, Field Operator, Scheduler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6060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59" y="251460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Generalization: Admin → Manager → Field Operator (inherits use cases)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3383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329183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«include»: Detect &amp; Escalate Disruption → Generate Route Solutions (always)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416051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4069079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«extend»: Export Report (CSV) → View Reports (optional)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937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4846320"/>
            <a:ext cx="5532120" cy="7772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222222"/>
                </a:solidFill>
                <a:latin typeface="Times New Roman"/>
              </a:rPr>
              <a:t>Straight lines, no overlapping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3.1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892" y="1508760"/>
            <a:ext cx="6589735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(1/4)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users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admin@chainshield.com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password_hash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scrypt:32768:8:1$jCqB…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phone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2026-08-25 03:48:26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hubs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 Hub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Ahmedabad, Gujarat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23.0225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72.5714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cargo_types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VARCHAR(50)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General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sensitivity_weight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(2/4)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222222"/>
                </a:solidFill>
                <a:latin typeface="Times New Roman"/>
              </a:rPr>
              <a:t>Table: shipments</a:t>
            </a:r>
            <a:r>
              <a:rPr sz="1400" b="0" i="0">
                <a:solidFill>
                  <a:srgbClr val="222222"/>
                </a:solidFill>
                <a:latin typeface="Times New Roman"/>
              </a:rPr>
              <a:t> — Every shipment with its route, cargo, assigned operator, live position and current risk.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64240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3840480"/>
                <a:gridCol w="3108960"/>
              </a:tblGrid>
              <a:tr h="278892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Data 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tracking_no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NOT NULL, UNIQUE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CS-1001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origin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Ahmedabad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destination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Mumbai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cargo_type_id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cargo_types(id),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 (Perishable)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transport_mode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'In-transit'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In-transit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22.30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current_lng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72.62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0.0, range 0 – 100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risk_level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'LOW'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cargo_value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0.0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42000.00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assigned_operator_id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users(id),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Yadav, driver)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hub_id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FOREIGN KEY → hubs(id), NULL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(Ahmedabad Hub)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DEFAULT current date-time (UTC)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06:24:35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(3/4)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disruptions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543153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shipment_id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3 (CS-1003)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VARCHAR(30)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79.69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VARCHAR(15)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detected_at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2026-10-11 05:45:02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resolved_by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08776" y="1417320"/>
            <a:ext cx="5431536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route_solutions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08776" y="1783080"/>
          <a:ext cx="543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406"/>
                <a:gridCol w="1683776"/>
                <a:gridCol w="1955352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option_no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Reroute via Jaipur Hub (+0 km detour, avoids affected corridor)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extra_time_hours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extra_cost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1501.22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risk_score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FLOAT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23.91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selected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3.2 Data Dictionary (4/4) — Sample record: id =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notifications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3544822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MEDIUM risk on CS-1003 (Delhi → Ahmedabad) — Cargo, score 56.53. Route options ready.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is_read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BOOLEAN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created_at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2026-10-10 20:06:57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22064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messages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22064" y="1783080"/>
          <a:ext cx="3544822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sender_id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8 (Suresh Yadav)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receiver_id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chat_id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VARCHAR(10)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1-8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content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Hello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sent_at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2026-09-24 13:22:49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095488" y="1417320"/>
            <a:ext cx="3544824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Times New Roman"/>
              </a:rPr>
              <a:t>Table: activity_log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095488" y="1783080"/>
          <a:ext cx="354482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791"/>
                <a:gridCol w="1098895"/>
                <a:gridCol w="1276136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Type (Size)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Times New Roman"/>
                        </a:rPr>
                        <a:t>Sample (id = 1)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user_id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INTEGER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1 (Admin)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VARCHAR(255)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resolved the disruption on CS-1002 via 'Hold at current hub until conditions clear'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timestamp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DATETIME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Times New Roman"/>
                        </a:rPr>
                        <a:t>2026-09-07 07:15:49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Jinja2 + Bootstrap 5 with a custom design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5603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Shared shell: collapsible sidebar, top bar, notification bell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290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Fixed risk colours: LOW green, AT-RISK amber, MEDIUM orange, HIGH 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976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Light / dark themes, fully responsive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1663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443484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Admin panel tabs: Overview, Users, Shipments, Base Cities, Cargo, Reports, Config, Activity Log</a:t>
            </a:r>
          </a:p>
        </p:txBody>
      </p:sp>
      <p:pic>
        <p:nvPicPr>
          <p:cNvPr id="17" name="Picture 16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458" y="1508760"/>
            <a:ext cx="5467802" cy="44805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5577840" y="6035040"/>
            <a:ext cx="60350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Admin Panel — Overview Dashboard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21</a:t>
            </a:r>
          </a:p>
        </p:txBody>
      </p:sp>
      <p:pic>
        <p:nvPicPr>
          <p:cNvPr id="7" name="Picture 6" descr="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2975"/>
            <a:ext cx="5394959" cy="30721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35825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User Management</a:t>
            </a:r>
          </a:p>
        </p:txBody>
      </p:sp>
      <p:pic>
        <p:nvPicPr>
          <p:cNvPr id="9" name="Picture 8" descr="admin_hu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Logistics Hubs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22</a:t>
            </a:r>
          </a:p>
        </p:txBody>
      </p:sp>
      <p:pic>
        <p:nvPicPr>
          <p:cNvPr id="7" name="Picture 6" descr="admin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0160"/>
            <a:ext cx="5394959" cy="239776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02107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Cargo Types</a:t>
            </a:r>
          </a:p>
        </p:txBody>
      </p:sp>
      <p:pic>
        <p:nvPicPr>
          <p:cNvPr id="9" name="Picture 8" descr="admin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587624"/>
            <a:ext cx="5394959" cy="232283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498360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System Configuration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3.3 User Interface Design — Admin Panel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23</a:t>
            </a:r>
          </a:p>
        </p:txBody>
      </p:sp>
      <p:pic>
        <p:nvPicPr>
          <p:cNvPr id="7" name="Picture 6" descr="admin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147" y="1554480"/>
            <a:ext cx="7349224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Admin Panel — Activity Audit Log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3.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3.4 Report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24</a:t>
            </a:r>
          </a:p>
        </p:txBody>
      </p:sp>
      <p:pic>
        <p:nvPicPr>
          <p:cNvPr id="7" name="Picture 6" descr="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26" y="1508760"/>
            <a:ext cx="6011186" cy="48006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8046720" y="17373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645920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Available to Admin and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239572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30428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From – To date-range filter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305409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962656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1. Disruption Summary (CSV)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3712463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621024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2. Resolution Time per decision-maker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437083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279392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3. Activity Audit Log (CSV)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502919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937759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4. Shipment Risk (CSV)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56875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5596128"/>
            <a:ext cx="324612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CSV opens directly in Excel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(1/9)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1. PEP 8 Naming, Type Hints and Docstrings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Python code follows PEP 8: 4-space indentation, snake_case for functions and variables, PascalCase for classes and UPPER_CASE for constants.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Functions carry type hints and a docstring, so every member of the group can read and review another member's code without explanation.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compute_risk_score() and classify_risk() in app/services/risk_engine.py; the constant ALERT_LEVELS; the class RouteSolution in app/models.py.</a:t>
            </a:r>
          </a:p>
        </p:txBody>
      </p:sp>
      <p:pic>
        <p:nvPicPr>
          <p:cNvPr id="14" name="Picture 13" descr="cs1_pe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07693"/>
            <a:ext cx="6492240" cy="27741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27546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Naming, type hints and docstring in the risk engine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(2/9)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2. Application Factory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Flask application is never created at import time; create_app() builds it from a named configuration (development, testing or production).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This lets the same code run on a laptop, inside the automated tests and inside Docker, each with its own settings.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create_app("testing") gives the test suite a fresh in-memory database, while Docker calls create_app("production").</a:t>
            </a:r>
          </a:p>
        </p:txBody>
      </p:sp>
      <p:pic>
        <p:nvPicPr>
          <p:cNvPr id="14" name="Picture 13" descr="cs2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create_app() in app/__init__.py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(3/9)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3. Modular Blueprint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Each feature lives in its own Flask blueprint with its own URL prefix, routes and templates.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 feature can therefore be changed, tested or disabled without touching the others.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shipments_bp serves everything under /shipments, disruptions_bp under /disruptions and chat_bp under /chat.</a:t>
            </a:r>
          </a:p>
        </p:txBody>
      </p:sp>
      <p:pic>
        <p:nvPicPr>
          <p:cNvPr id="14" name="Picture 13" descr="cs3_bluepr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392624"/>
            <a:ext cx="6492239" cy="28042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242615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Blueprint registration in app/__init__.py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(4/9)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4. Single Source of Configuration — No Hard-coded Secrets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Risk weights, the scan interval and model names are defined once in app/config.py; API keys and the secret key are read from a .env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.env file is excluded from Git and Docker, so no password or key is ever committed to the repository.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RISK_WEIGHT_WEATHER = 0.40 is read by the risk engine; GEMINI_API_KEY = os.environ.get("GEMINI_API_KEY", "").</a:t>
            </a:r>
          </a:p>
        </p:txBody>
      </p:sp>
      <p:pic>
        <p:nvPicPr>
          <p:cNvPr id="14" name="Picture 13" descr="cs4_con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581835"/>
            <a:ext cx="6492240" cy="242584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53404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Centralised settings in app/config.py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(5/9)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5. ORM Models Instead of Raw 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All nine tables are Python classes in app/models.py, and every query goes through Flask-SQLAlchemy.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Queries are parameterised automatically, which prevents SQL injection, and the database can be moved to PostgreSQL by changing only DATABASE_URL.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User.query.filter_by(email=form.email.data).first() instead of a hand-written SELECT statement.</a:t>
            </a:r>
          </a:p>
        </p:txBody>
      </p:sp>
      <p:pic>
        <p:nvPicPr>
          <p:cNvPr id="14" name="Picture 13" descr="cs5_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259649"/>
            <a:ext cx="6492239" cy="30702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37559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The User model with password hashing helpers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(6/9)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6. Server-side Form 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Every form is validated on the server with Flask-WTF before anything is saved, because browser-side checks can be bypassed.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Business rules that span two fields are written in a validate() method of the form class.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ShipmentForm rejects a shipment whose destination equals its origin and any latitude outside −90 to 90.</a:t>
            </a:r>
          </a:p>
        </p:txBody>
      </p:sp>
      <p:pic>
        <p:nvPicPr>
          <p:cNvPr id="14" name="Picture 13" descr="cs6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466701"/>
            <a:ext cx="6492240" cy="265611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168538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ShipmentForm in app/forms.py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(7/9)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7. Security by Default — Role Decorators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Access rules are written once as decorators and placed on top of each route, so no page can forget its permission check.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Together with CSRF tokens on every form, Werkzeug password hashing and Jinja2 auto-escaping, this protects against the common web attacks.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@manager_required on /shipments/new returns 403 Forbidden to drivers, pilots, captains and loco pilots.</a:t>
            </a:r>
          </a:p>
        </p:txBody>
      </p:sp>
      <p:pic>
        <p:nvPicPr>
          <p:cNvPr id="14" name="Picture 13" descr="cs7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760832"/>
            <a:ext cx="6492239" cy="20678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874407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manager_required decorator in the shipments blueprint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(8/9)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8. Template Inheritance and Reusable Macros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base.html defines the sidebar, top bar and scripts once, and every page only fills its content 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Repeated interface pieces are Jinja2 macros, so a design change is made in exactly one place.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{{ risk_badge(s.risk_level, s.risk_score) }} draws the same coloured risk pill on the dashboard, shipment list and map pop-ups.</a:t>
            </a:r>
          </a:p>
        </p:txBody>
      </p:sp>
      <p:pic>
        <p:nvPicPr>
          <p:cNvPr id="14" name="Picture 13" descr="cs8_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3246458"/>
            <a:ext cx="6492240" cy="109660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4388781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risk_badge macro in app/templates/_macros.html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4.1 Coding Standards (9/9)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42976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Times New Roman"/>
              </a:rPr>
              <a:t>9. Version Control and Pinned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Git records every feature with a descriptive commit message, and every library version is pinned in requirements.txt.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3977640" cy="12344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222222"/>
                </a:solidFill>
                <a:latin typeface="Times New Roman"/>
              </a:rPr>
              <a:t>The Dockerfile installs exactly these versions on Python 3.10, so the application behaves identically on every machine.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83480"/>
            <a:ext cx="4297680" cy="123444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4069080" cy="11430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22222"/>
                </a:solidFill>
                <a:latin typeface="Times New Roman"/>
              </a:rPr>
              <a:t>Example:</a:t>
            </a:r>
            <a:r>
              <a:rPr sz="1300" b="0" i="0">
                <a:solidFill>
                  <a:srgbClr val="222222"/>
                </a:solidFill>
                <a:latin typeface="Times New Roman"/>
              </a:rPr>
              <a:t> Commit “Add admin CRUD, reports with CSV export, demo mode and map zones”; Flask==3.0.3 in requirements.txt.</a:t>
            </a:r>
          </a:p>
        </p:txBody>
      </p:sp>
      <p:pic>
        <p:nvPicPr>
          <p:cNvPr id="14" name="Picture 13" descr="cs9_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2613549"/>
            <a:ext cx="6492239" cy="236242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120640" y="5021690"/>
            <a:ext cx="6492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666E7A"/>
                </a:solidFill>
                <a:latin typeface="Times New Roman"/>
              </a:rPr>
              <a:t>Screenshot — Pinned dependencies in requirements.txt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4.2 Implementation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Risk Engine: 0.40 W + 0.25 C + 0.20 Cargo + 0.15 History (each 0–100)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7845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66405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Thresholds: ≥70 HIGH, ≥50 MEDIUM, ≥30 AT-RISK, else 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0240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32611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Route Solver: hold / continue / 2 hub reroutes / mode switch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90257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98817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Ranking: 0.60 risk + 0.25 time + 0.15 cost → Option 1 recommended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56462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65022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Socket.IO personal rooms; live map &amp; charts refresh without polling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22668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31228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AI Assistant: Gemini on live data, offline fallback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68887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97434"/>
            <a:ext cx="10744200" cy="666205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Security: hashing, CSRF, role checks; Docker + Gunicorn + eventlet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(1/8)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35</a:t>
            </a:r>
          </a:p>
        </p:txBody>
      </p:sp>
      <p:pic>
        <p:nvPicPr>
          <p:cNvPr id="7" name="Picture 6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Landing Page</a:t>
            </a:r>
          </a:p>
        </p:txBody>
      </p:sp>
      <p:pic>
        <p:nvPicPr>
          <p:cNvPr id="9" name="Picture 8" descr="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Login Screen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(2/8)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36</a:t>
            </a:r>
          </a:p>
        </p:txBody>
      </p:sp>
      <p:pic>
        <p:nvPicPr>
          <p:cNvPr id="7" name="Picture 6" descr="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Registration Screen</a:t>
            </a:r>
          </a:p>
        </p:txBody>
      </p:sp>
      <p:pic>
        <p:nvPicPr>
          <p:cNvPr id="9" name="Picture 8" descr="live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Live Shipment Map with Disruption Zones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(3/8)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37</a:t>
            </a:r>
          </a:p>
        </p:txBody>
      </p:sp>
      <p:pic>
        <p:nvPicPr>
          <p:cNvPr id="7" name="Picture 6" descr="disrup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63394"/>
            <a:ext cx="5394959" cy="39712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80783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Disruptions with Ranked Route Options</a:t>
            </a:r>
          </a:p>
        </p:txBody>
      </p:sp>
      <p:pic>
        <p:nvPicPr>
          <p:cNvPr id="9" name="Picture 8" descr="ship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38045"/>
            <a:ext cx="5394959" cy="322199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43318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List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(4/8)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38</a:t>
            </a:r>
          </a:p>
        </p:txBody>
      </p:sp>
      <p:pic>
        <p:nvPicPr>
          <p:cNvPr id="7" name="Picture 6" descr="shipmen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Shipment Detail with Mini-map and History</a:t>
            </a:r>
          </a:p>
        </p:txBody>
      </p:sp>
      <p:pic>
        <p:nvPicPr>
          <p:cNvPr id="9" name="Picture 8" descr="shipment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50720"/>
            <a:ext cx="5394959" cy="359664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62051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Create Shipment Form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(5/8)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39</a:t>
            </a:r>
          </a:p>
        </p:txBody>
      </p:sp>
      <p:pic>
        <p:nvPicPr>
          <p:cNvPr id="7" name="Picture 6" descr="dri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5790"/>
            <a:ext cx="5394959" cy="374650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695442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Field Operator (Driver) Dashboard</a:t>
            </a:r>
          </a:p>
        </p:txBody>
      </p:sp>
      <p:pic>
        <p:nvPicPr>
          <p:cNvPr id="9" name="Picture 8" descr="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Real-time Team Chat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(6/8)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40</a:t>
            </a:r>
          </a:p>
        </p:txBody>
      </p:sp>
      <p:pic>
        <p:nvPicPr>
          <p:cNvPr id="7" name="Picture 6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0300"/>
            <a:ext cx="5394959" cy="2697479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170931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Notification Feed</a:t>
            </a:r>
          </a:p>
        </p:txBody>
      </p:sp>
      <p:pic>
        <p:nvPicPr>
          <p:cNvPr id="9" name="Picture 8" descr="ass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AI Assistant with Suggested Questions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(7/8)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41</a:t>
            </a:r>
          </a:p>
        </p:txBody>
      </p:sp>
      <p:pic>
        <p:nvPicPr>
          <p:cNvPr id="7" name="Picture 6" descr="dark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Dashboard</a:t>
            </a:r>
          </a:p>
        </p:txBody>
      </p:sp>
      <p:pic>
        <p:nvPicPr>
          <p:cNvPr id="9" name="Picture 8" descr="dark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63114"/>
            <a:ext cx="5394959" cy="337185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217920" y="5508117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Dark Theme — Live Map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4.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4.3 Output Screens (8/8)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42</a:t>
            </a:r>
          </a:p>
        </p:txBody>
      </p:sp>
      <p:pic>
        <p:nvPicPr>
          <p:cNvPr id="7" name="Picture 6" descr="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545" y="1554480"/>
            <a:ext cx="8302428" cy="4389120"/>
          </a:xfrm>
          <a:prstGeom prst="rect">
            <a:avLst/>
          </a:prstGeom>
          <a:ln w="9525">
            <a:solidFill>
              <a:srgbClr val="C9D3E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463040" y="6016752"/>
            <a:ext cx="9235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66E7A"/>
                </a:solidFill>
                <a:latin typeface="Times New Roman"/>
              </a:rPr>
              <a:t>Mobile Views — Dashboard, Disruptions, Live Map and Navigation Drawer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(1/2) — 101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Login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email = manisha@chainshield.com, password = demo1234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is authenticated and redirected to the role-specific dashboard.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TC002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Risk Score Calculation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Weather = 80, Congestion = 60, Cargo = 50, History = 40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Score = 0.40×80 + 0.25×60 + 0.20×50 + 0.15×40 = 63 (MEDIUM)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Automatic Disruption &amp; Escalation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Scan 1: score 55 (MEDIUM); Scan 2: score 74 (HIGH)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One disruption opened at MEDIUM with ≥ 3 ranked solutions, then escalated to HIGH with re-planned options.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TC004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Route Solution &amp; Notification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Manager selects Option 1 “Reroute via Jaipur Hub”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Disruption becomes Resolved; operator receives a live notification; action logged.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CRUD (Cargo Type)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name = Pharma, weight 0.9 → 0.85; weight 1.5 (invalid)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Cargo type saved, edited and deleted; weight outside 0.0–1.0 rejected.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TC006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Container Startup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docker compose up --build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Image builds; Gunicorn + eventlet starts on port 5000; /health returns ok.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Role-Based Access Control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GET /dashboard/users, /shipments/new, /reports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403 Forbidden for admin/manager pages; 404 for other operators' shipments.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5.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5.1 Test Cases (2/2) — 101 automated checks, 0 failures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2103120"/>
                <a:gridCol w="3017520"/>
                <a:gridCol w="4343400"/>
                <a:gridCol w="822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ID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Case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Test Data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Expected Result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 i="0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Real-time Chat Delivery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sends “Hold CS-1001 at Surat”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Message saved and appears instantly in the driver's open chat.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TC009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AI Assistant with Fallback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“Give me a summary” with valid and invalid key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Gemini answer with valid key; offline engine answers with invalid key.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Reports and CSV Export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/reports?from=2026-09-01&amp;to=2026-09-30; disruptions.csv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Four reports shown; CSV opens in Excel; filter limits rows.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TC011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User Deactivation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Admin clicks Deactivate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Login refused with message; open session logged out.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Demo Disruption 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Click “Trigger demo disruption”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HIGH disruption with ranked options, map zone and live alert appear.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TC013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Responsive Layout and Themes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Open 8 main pages; toggle dark mode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No sideways scrolling on phone; drawer works; theme remembered.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 i="0">
                          <a:solidFill>
                            <a:srgbClr val="222222"/>
                          </a:solidFill>
                          <a:latin typeface="Times New Roman"/>
                        </a:rPr>
                        <a:t>Pass</a:t>
                      </a:r>
                    </a:p>
                  </a:txBody>
                  <a:tcPr marL="54864" marR="54864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6. PROPOSED ENHANCEMENT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6 Proposed Enhancement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45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Real GPS / telematics feeds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098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1836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PostgreSQL for production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279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3652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ML-based risk prediction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461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Mobile app / PWA for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6427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7284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Multi-tenant support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8243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190999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SMS &amp; WhatsApp alerts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0060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Customs &amp; port APIs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1876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2732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Smarter AI assistant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36920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745480"/>
            <a:ext cx="10744200" cy="518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PDF reports &amp; scheduled e-mails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7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Weighted risk factors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Database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1344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1344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101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Automated checks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97696" y="1645920"/>
            <a:ext cx="2587752" cy="16459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37360"/>
            <a:ext cx="2587752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800" b="1" i="0">
                <a:solidFill>
                  <a:srgbClr val="1B2A4A"/>
                </a:solidFill>
                <a:latin typeface="Times New Roman"/>
              </a:rPr>
              <a:t>60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697480"/>
            <a:ext cx="25877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66E7A"/>
                </a:solidFill>
                <a:latin typeface="Times New Roman"/>
              </a:rPr>
              <a:t>Risk scan interval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94759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Moves logistics from reactive to preemptive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16551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25112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Every disruption paired with ranked route options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038344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946904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Self-hosted Flask + SQLite + Docker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660136"/>
            <a:ext cx="146304" cy="14630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568696"/>
            <a:ext cx="10744200" cy="62179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Times New Roman"/>
              </a:rPr>
              <a:t>Fully built, tested and deployable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8B8D"/>
                </a:solidFill>
                <a:latin typeface="Times New Roman"/>
              </a:rPr>
              <a:t>8. BIBLIOGRAPHY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Times New Roman"/>
              </a:rPr>
              <a:t>8 Bibliography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1091672" cy="18288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66E7A"/>
                </a:solidFill>
                <a:latin typeface="Times New Roman"/>
              </a:rPr>
              <a:t>ChainShield Transportation System  |  MCA Semester 3  |  Group No. 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46520"/>
            <a:ext cx="7772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666E7A"/>
                </a:solidFill>
                <a:latin typeface="Times New Roman"/>
              </a:rPr>
              <a:t>47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Books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 Web Development — M. Grinberg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Python Crash Course — E. Matthes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Fundamentals of Database Systems — Elmasri &amp; Navathe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Software Engineering — I. Sommerville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1636" y="1600200"/>
            <a:ext cx="5408676" cy="457200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1600200"/>
            <a:ext cx="5408676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1673352"/>
            <a:ext cx="5134356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imes New Roman"/>
              </a:rPr>
              <a:t>Websites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14516" y="2377440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3116" y="228600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flask.palletsprojects.com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14516" y="2944368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43116" y="2852928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docs.python.org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4516" y="3511296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116" y="3419856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sqlite.org / docs.docker.com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14516" y="4078223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43116" y="3986783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getbootstrap.com / leafletjs.com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14516" y="4645152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3116" y="4553712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flask-socketio / apscheduler docs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14516" y="5212079"/>
            <a:ext cx="118872" cy="118872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5120640"/>
            <a:ext cx="4860036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222222"/>
                </a:solidFill>
                <a:latin typeface="Times New Roman"/>
              </a:rPr>
              <a:t>ai.google.dev (Gemini) / openweathermap.org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Times New Roman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1">
                <a:solidFill>
                  <a:srgbClr val="DDE6F3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Bhavik A. Visani  ·  Diya Shah  ·  Shruti Somani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Group No. 59  |  Guided by Prof. Dhaval Shah  |  LJ Institute of Computer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