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9" r:id="rId20"/>
    <p:sldId id="270" r:id="rId21"/>
    <p:sldId id="271" r:id="rId22"/>
    <p:sldId id="272" r:id="rId23"/>
    <p:sldId id="274" r:id="rId25"/>
    <p:sldId id="264" r:id="rId10"/>
    <p:sldId id="265" r:id="rId11"/>
    <p:sldId id="273" r:id="rId24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63"/>
              </a:solidFill>
              <a:effectLst/>
            </c:spPr>
          </c:dPt>
          <c:dPt>
            <c:idx val="1"/>
            <c:bubble3D val="0"/>
            <c:spPr>
              <a:solidFill>
                <a:srgbClr val="3D5AA8"/>
              </a:solidFill>
              <a:effectLst/>
            </c:spPr>
          </c:dPt>
          <c:dPt>
            <c:idx val="2"/>
            <c:bubble3D val="0"/>
            <c:spPr>
              <a:solidFill>
                <a:srgbClr val="E8871E"/>
              </a:solidFill>
              <a:effectLst/>
            </c:spPr>
          </c:dPt>
          <c:dPt>
            <c:idx val="3"/>
            <c:bubble3D val="0"/>
            <c:spPr>
              <a:solidFill>
                <a:srgbClr val="B8650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Weather Severity</c:v>
                </c:pt>
                <c:pt idx="1">
                  <c:v>Route Congestion</c:v>
                </c:pt>
                <c:pt idx="2">
                  <c:v>Cargo Sensitivity</c:v>
                </c:pt>
                <c:pt idx="3">
                  <c:v>Historic Delay Probability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project name, the problem it solves for logistics companies, and the team before moving 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 in three concrete failure modes, before showing the solution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objectives, then the one-line framing on the right: moving the org from reactive to preemptive.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loop left to right — this is the core mechanic of the whole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pie chart shows how the four signals are weighted into one composite score; the right column shows what the system does at each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architecture: Flask/Jinja2 presentation layer, core services in the middle, SQLAlchemy data layer, SQLite database, all packaged in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— Admin, Manager, Field Operator — each with a distinct set of use cases inside the system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components map directly to the six service/blueprint modules in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Flask + SQLite + Docker, kept deliberately simple and self-contained so any logistics company can host it on its own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milestones complete — documentation, environment/Docker, and authentication. Next: the risk engine and the three role-based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headline reframing — reactive to preemptive — backed by four quick stats that summarise the system's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shot-13-1.png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shot-14-1.png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shot-15-1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shot-16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6-2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hot-17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7-2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shot-19-1.png"/><Relationship Id="rId2" Type="http://schemas.openxmlformats.org/officeDocument/2006/relationships/slideLayout" Target="../slideLayouts/slideLayout1.xml"/><Relationship Id="rId91" Type="http://schemas.openxmlformats.org/officeDocument/2006/relationships/image" Target="../media/shot-19-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D5A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871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RISK PLATFORM  ·  MCA SEMESTER 3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ChainShield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Disruption Prediction &amp; Route Optimisation for Logistics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(D51)  ·  Diya Shah (D36)  ·  Shruti Somani (D42)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Dhaval Shah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Institute of Computer Application  |  LJK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are found only after it's too 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9971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997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939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7802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learn about a delay only after a customer reports a missed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85419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541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84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signals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403250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congestion, cargo risk, and delay history are never fused into one score.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40867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086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202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rerouting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558698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disruption is found, the reroute decision relies on guesswork, not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disruptions before they cascade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299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score every active shipment's disruption risk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79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disruptions the instant a risk threshold is crossed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75888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95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propose ranked, optimised route alternatives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425696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793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managers, then field operators, the moment a decision is made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29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role — admin, manager, operator — its own focused dashboard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281160" y="2103120"/>
            <a:ext cx="2331720" cy="3566160"/>
          </a:xfrm>
          <a:prstGeom prst="roundRect">
            <a:avLst>
              <a:gd name="adj" fmla="val 3922"/>
            </a:avLst>
          </a:prstGeom>
          <a:solidFill>
            <a:srgbClr val="1F2A63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81160" y="27432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ChainShield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shipment is scored on a recurring interval using live weather, congestion, cargo, and history signals.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MEDIUM risk auto-creates a disruption and alerts managers live — escalated if it reaches HIGH.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ranked options (hold, hub reroute, mode switch) with time, ₹ cost and residual-risk trade-offs.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46888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choice is pushed instantly to the assigned field operator's dashboard.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weighted risk score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THRESHOLDS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80760" y="205740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0" y="2203704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20370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24597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escalated, options re-planned, everyone alerted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04495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319125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19125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3447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auto-created with ranked route options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403250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17920" y="417880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3D5AA8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417880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23760" y="4123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and watched on dashboards and the live map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0760" y="5020056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5166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51663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23760" y="511149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23760" y="5422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— risk score updated silently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945490" y="1783080"/>
            <a:ext cx="6270540" cy="46177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" name="Image 0" descr="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36930" y="1874520"/>
            <a:ext cx="608766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8560" y="1428560"/>
            <a:ext cx="3277241" cy="4882880"/>
          </a:xfrm>
          <a:prstGeom prst="roundRect">
            <a:avLst>
              <a:gd name="adj" fmla="val 1524"/>
            </a:avLst>
          </a:prstGeom>
          <a:solidFill>
            <a:srgbClr val="F7F8FC"/>
          </a:solidFill>
          <a:ln/>
        </p:spPr>
      </p:sp>
      <p:pic>
        <p:nvPicPr>
          <p:cNvPr id="5" name="Image 0" descr="use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0000" y="1520000"/>
            <a:ext cx="3094361" cy="4700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0" name="Actors"/>
          <p:cNvSpPr txBox="1"/>
          <p:nvPr/>
        </p:nvSpPr>
        <p:spPr>
          <a:xfrm>
            <a:off x="4494361" y="1670000"/>
            <a:ext cx="7105639" cy="4400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3"/>
                </a:solidFill>
                <a:latin typeface="Calibri"/>
                <a:cs typeface="Calibri"/>
              </a:rPr>
              <a:t>Admin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en-US" sz="1250" b="0" dirty="0">
                <a:solidFill>
                  <a:srgbClr val="4A4E69"/>
                </a:solidFill>
                <a:latin typeface="Calibri"/>
                <a:cs typeface="Calibri"/>
              </a:rPr>
              <a:t>Manages users, hubs and cargo types; views reports, CSV export and the audit log; receives every alert.</a:t>
            </a:r>
          </a:p>
          <a:p>
            <a:pPr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1F2A63"/>
                </a:solidFill>
                <a:latin typeface="Calibri"/>
                <a:cs typeface="Calibri"/>
              </a:rPr>
              <a:t>Manager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en-US" sz="1250" b="0" dirty="0">
                <a:solidFill>
                  <a:srgbClr val="4A4E69"/>
                </a:solidFill>
                <a:latin typeface="Calibri"/>
                <a:cs typeface="Calibri"/>
              </a:rPr>
              <a:t>Creates and edits shipments, reviews disruptions and applies a route solution, triggers the demo, asks the AI assistant. Inherits all Field Operator use cases.</a:t>
            </a:r>
          </a:p>
          <a:p>
            <a:pPr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1F2A63"/>
                </a:solidFill>
                <a:latin typeface="Calibri"/>
                <a:cs typeface="Calibri"/>
              </a:rPr>
              <a:t>Field Operator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en-US" sz="1250" b="0" dirty="0">
                <a:solidFill>
                  <a:srgbClr val="4A4E69"/>
                </a:solidFill>
                <a:latin typeface="Calibri"/>
                <a:cs typeface="Calibri"/>
              </a:rPr>
              <a:t>Driver, loco pilot, pilot or captain: logs in, updates shipment status, views the live map and chats with the team.</a:t>
            </a:r>
          </a:p>
          <a:p>
            <a:pPr indent="0" marL="0">
              <a:spcBef>
                <a:spcPts val="1400"/>
              </a:spcBef>
              <a:buNone/>
            </a:pPr>
            <a:r>
              <a:rPr lang="en-US" sz="1500" b="1" dirty="0">
                <a:solidFill>
                  <a:srgbClr val="1F2A63"/>
                </a:solidFill>
                <a:latin typeface="Calibri"/>
                <a:cs typeface="Calibri"/>
              </a:rPr>
              <a:t>Background Scheduler</a:t>
            </a:r>
          </a:p>
          <a:p>
            <a:pPr indent="0" marL="0">
              <a:spcBef>
                <a:spcPts val="300"/>
              </a:spcBef>
              <a:buNone/>
            </a:pPr>
            <a:r>
              <a:rPr lang="en-US" sz="1250" b="0" dirty="0">
                <a:solidFill>
                  <a:srgbClr val="4A4E69"/>
                </a:solidFill>
                <a:latin typeface="Calibri"/>
                <a:cs typeface="Calibri"/>
              </a:rPr>
              <a:t>System actor: every 60 s scores risk and detects disruptions, which «include» real-time 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ChainShield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shipment on a recurring schedule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hub reroute / mode switch, ranked by risk, time &amp; cost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&amp; Chat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and chat over WebSockets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Reports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hubs, cargo, audit log and CSV reports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Q&amp;A grounded in live data, offline fallback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0684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positions, routes and disruption zones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— all milestones complete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System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Docker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Role-based Access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Engine, Route Solver &amp; Disruptions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Map, Chat, AI &amp; Premium UI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Testing (101 checks) &amp; Docker Deploy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AA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tracking to preemptive logistics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turns scattered weather, congestion, cargo, and history signals into one transparent risk score per shipment — and pairs every detected disruption with a ranked, actionable route solution, so delays are caught before they cascade.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factors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1546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76072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6676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scan interval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28600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 ·  Diya Shah  ·  Shruti Somani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  |  Guided by Prof. Dhaval Shah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 — live KPIs and charts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1923105" y="1508760"/>
            <a:ext cx="8345789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Admin dashboard — live KPIs and chart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4545" y="1600200"/>
            <a:ext cx="8162909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shipment map with disruption zones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2273808" y="1508760"/>
            <a:ext cx="7644384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Live shipment map with disruption zone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65248" y="1600200"/>
            <a:ext cx="7461504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with ranked route options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1923105" y="1508760"/>
            <a:ext cx="8345789" cy="484632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Disruptions with ranked route option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4545" y="1600200"/>
            <a:ext cx="8162909" cy="4663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chat and AI assistant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2164080"/>
            <a:ext cx="5547360" cy="353568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6187440" y="2164080"/>
            <a:ext cx="5547360" cy="353568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Real-time chat and AI assistant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255520"/>
            <a:ext cx="5364480" cy="3352800"/>
          </a:xfrm>
          <a:prstGeom prst="rect">
            <a:avLst/>
          </a:prstGeom>
        </p:spPr>
      </p:pic>
      <p:pic>
        <p:nvPicPr>
          <p:cNvPr id="51" name="Image 0" descr="Real-time chat and AI assistant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6278880" y="2255520"/>
            <a:ext cx="5364480" cy="3352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role-based dashboards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1698413"/>
            <a:ext cx="5547360" cy="4467013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6187440" y="1977813"/>
            <a:ext cx="5547360" cy="3908213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Reports and role-based dashboards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9853"/>
            <a:ext cx="5364480" cy="4284133"/>
          </a:xfrm>
          <a:prstGeom prst="rect">
            <a:avLst/>
          </a:prstGeom>
        </p:spPr>
      </p:pic>
      <p:pic>
        <p:nvPicPr>
          <p:cNvPr id="51" name="Image 0" descr="Reports and role-based dashboards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6278880" y="2069253"/>
            <a:ext cx="5364480" cy="37253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results — 101 automated checks, 0 failures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 &amp; account deactivation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formula, disruption creation &amp; escalation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 ranking &amp; resolution alerts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&amp; chat (Socket.IO)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CSV export, admin CRUD, demo mode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run (Gunicorn + eventlet)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Premium, responsive UI — dark mode and mobile</a:t>
            </a:r>
            <a:endParaRPr lang="en-US" sz="3200" dirty="0"/>
          </a:p>
        </p:txBody>
      </p:sp>
      <p:sp>
        <p:nvSpPr>
          <p:cNvPr id="40" name="Shape 2"/>
          <p:cNvSpPr/>
          <p:nvPr/>
        </p:nvSpPr>
        <p:spPr>
          <a:xfrm>
            <a:off x="457200" y="1895856"/>
            <a:ext cx="6405676" cy="4072127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sp>
        <p:nvSpPr>
          <p:cNvPr id="41" name="Shape 2"/>
          <p:cNvSpPr/>
          <p:nvPr/>
        </p:nvSpPr>
        <p:spPr>
          <a:xfrm>
            <a:off x="7045756" y="2649377"/>
            <a:ext cx="4689044" cy="2565085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0" name="Image 0" descr="Premium, responsive UI — dark mode and mobile screenshot 1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87296"/>
            <a:ext cx="6222796" cy="3889247"/>
          </a:xfrm>
          <a:prstGeom prst="rect">
            <a:avLst/>
          </a:prstGeom>
        </p:spPr>
      </p:pic>
      <p:pic>
        <p:nvPicPr>
          <p:cNvPr id="51" name="Image 0" descr="Premium, responsive UI — dark mode and mobile screenshot 2">    </p:cNvPr>
          <p:cNvPicPr>
            <a:picLocks noChangeAspect="1"/>
          </p:cNvPicPr>
          <p:nvPr/>
        </p:nvPicPr>
        <p:blipFill>
          <a:blip r:embed="rId91"/>
          <a:srcRect l="0" r="0" t="0" b="0"/>
          <a:stretch/>
        </p:blipFill>
        <p:spPr>
          <a:xfrm>
            <a:off x="7137196" y="2740817"/>
            <a:ext cx="4506164" cy="2382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2026-08-25T03:07:52Z</dcterms:created>
  <dcterms:modified xsi:type="dcterms:W3CDTF">2026-08-25T03:07:52Z</dcterms:modified>
</cp:coreProperties>
</file>