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9"/>
    <p:sldId id="269" r:id="rId20"/>
    <p:sldId id="270" r:id="rId21"/>
    <p:sldId id="271" r:id="rId22"/>
    <p:sldId id="272" r:id="rId23"/>
    <p:sldId id="274" r:id="rId25"/>
    <p:sldId id="264" r:id="rId10"/>
    <p:sldId id="265" r:id="rId11"/>
    <p:sldId id="273" r:id="rId24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63"/>
              </a:solidFill>
              <a:effectLst/>
            </c:spPr>
          </c:dPt>
          <c:dPt>
            <c:idx val="1"/>
            <c:bubble3D val="0"/>
            <c:spPr>
              <a:solidFill>
                <a:srgbClr val="3D5AA8"/>
              </a:solidFill>
              <a:effectLst/>
            </c:spPr>
          </c:dPt>
          <c:dPt>
            <c:idx val="2"/>
            <c:bubble3D val="0"/>
            <c:spPr>
              <a:solidFill>
                <a:srgbClr val="E8871E"/>
              </a:solidFill>
              <a:effectLst/>
            </c:spPr>
          </c:dPt>
          <c:dPt>
            <c:idx val="3"/>
            <c:bubble3D val="0"/>
            <c:spPr>
              <a:solidFill>
                <a:srgbClr val="B8650F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Weather Severity</c:v>
                </c:pt>
                <c:pt idx="1">
                  <c:v>Route Congestion</c:v>
                </c:pt>
                <c:pt idx="2">
                  <c:v>Cargo Sensitivity</c:v>
                </c:pt>
                <c:pt idx="3">
                  <c:v>Historic Delay Probability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the project name, the track (Smart Supply Chains), and the team before moving to the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 point in three concrete failure modes, before showing the solution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concrete objectives, then the one-line framing on the right: moving the org from reactive to preemptive.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four-step loop left to right — this is the core mechanic of the whole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pie chart shows how the four signals are weighted into one composite score; the right column shows what the system does at each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architecture: Flask/Jinja2 presentation layer, core services in the middle, SQLAlchemy data layer, SQLite database, all packaged in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 — Admin, Manager, Field Operator — each with a distinct set of use cases inside the system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components map directly to the six service/blueprint modules in the codebase.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stack confirmed for the rebuild: Flask + SQLite + Docker, kept deliberately simple and self-contained for an academic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milestones complete — documentation, environment/Docker, and authentication. Next: the risk engine and the three role-based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headline reframing — reactive to preemptive — backed by four quick stats that summarise the system's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from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shot-13-1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shot-14-1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shot-15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shot-16-1.png"/><Relationship Id="rId2" Type="http://schemas.openxmlformats.org/officeDocument/2006/relationships/slideLayout" Target="../slideLayouts/slideLayout1.xml"/><Relationship Id="rId91" Type="http://schemas.openxmlformats.org/officeDocument/2006/relationships/image" Target="../media/shot-16-2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shot-17-1.png"/><Relationship Id="rId2" Type="http://schemas.openxmlformats.org/officeDocument/2006/relationships/slideLayout" Target="../slideLayouts/slideLayout1.xml"/><Relationship Id="rId91" Type="http://schemas.openxmlformats.org/officeDocument/2006/relationships/image" Target="../media/shot-17-2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shot-19-1.png"/><Relationship Id="rId2" Type="http://schemas.openxmlformats.org/officeDocument/2006/relationships/slideLayout" Target="../slideLayouts/slideLayout1.xml"/><Relationship Id="rId91" Type="http://schemas.openxmlformats.org/officeDocument/2006/relationships/image" Target="../media/shot-19-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D5AA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E8871E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SUPPLY CHAINS  ·  MCA SEMESTER 3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ChainShield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Logistics &amp; Dynamic Supply Chain Optimization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 59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Bhavik A. Visani (D51)  ·  Diya Shah (D36)  ·  Shruti Somani (D42)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Prof. Dhaval Shah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 Institute of Computer Application  |  LJK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Disruptions are found only after it's too late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99716"/>
            <a:ext cx="566928" cy="566928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997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0939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monitoring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47802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learn about a delay only after a customer reports a missed delivery.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854196"/>
            <a:ext cx="566928" cy="566928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541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845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signals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403250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congestion, cargo risk, and delay history are never fused into one score.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408676"/>
            <a:ext cx="566928" cy="566928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4086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520293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rerouting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558698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disruption is found, the reroute decision relies on guesswork, not data.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disruptions before they cascade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76272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299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score every active shipment's disruption risk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77977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disruptions the instant a risk threshold is crossed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675888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52958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propose ranked, optimised route alternatives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425696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7939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managers, then field operators, the moment a decision is made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5175504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029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role — admin, manager, operator — its own focused dashboard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281160" y="2103120"/>
            <a:ext cx="2331720" cy="3566160"/>
          </a:xfrm>
          <a:prstGeom prst="roundRect">
            <a:avLst>
              <a:gd name="adj" fmla="val 3922"/>
            </a:avLst>
          </a:prstGeom>
          <a:solidFill>
            <a:srgbClr val="1F2A63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81160" y="274320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2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Preemptive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ChainShield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468880"/>
            <a:ext cx="640080" cy="64008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active shipment is scored on a recurring interval using live weather, congestion, cargo, and history signals.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4366260" y="2468880"/>
            <a:ext cx="640080" cy="64008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MEDIUM risk auto-creates a disruption and alerts managers live — escalated if it reaches HIGH.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200900" y="2468880"/>
            <a:ext cx="640080" cy="64008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8" name="Text 16"/>
          <p:cNvSpPr/>
          <p:nvPr/>
        </p:nvSpPr>
        <p:spPr>
          <a:xfrm>
            <a:off x="72009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ranked options (hold, hub reroute, mode switch) with time, ₹ cost and residual-risk trade-offs.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2396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35540" y="246888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55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8972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manager's choice is pushed instantly to the assigned field operator's dashboard.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transparent, weighted risk score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965960"/>
          <a:ext cx="5212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8076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THRESHOLDS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80760" y="2057400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7" name="Shape 4"/>
          <p:cNvSpPr/>
          <p:nvPr/>
        </p:nvSpPr>
        <p:spPr>
          <a:xfrm>
            <a:off x="6217920" y="2203704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D64545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203704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2376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23760" y="24597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escalated, options re-planned, everyone alerted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80760" y="3044952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12" name="Shape 9"/>
          <p:cNvSpPr/>
          <p:nvPr/>
        </p:nvSpPr>
        <p:spPr>
          <a:xfrm>
            <a:off x="6217920" y="3191256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8871E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3191256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0" y="31363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23760" y="34472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auto-created with ranked route options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80760" y="4032504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217920" y="4178808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3D5AA8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417880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23760" y="41239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223760" y="4434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and watched on dashboards and the live map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80760" y="5020056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22" name="Shape 19"/>
          <p:cNvSpPr/>
          <p:nvPr/>
        </p:nvSpPr>
        <p:spPr>
          <a:xfrm>
            <a:off x="6217920" y="51663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2E9E5B"/>
          </a:solidFill>
          <a:ln/>
        </p:spPr>
      </p:sp>
      <p:sp>
        <p:nvSpPr>
          <p:cNvPr id="23" name="Text 20"/>
          <p:cNvSpPr/>
          <p:nvPr/>
        </p:nvSpPr>
        <p:spPr>
          <a:xfrm>
            <a:off x="6217920" y="516636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223760" y="511149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223760" y="54223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— risk score updated silently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45490" y="1783080"/>
            <a:ext cx="6270540" cy="461772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" name="Image 0" descr="architectur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36930" y="1874520"/>
            <a:ext cx="608766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10791" y="1783080"/>
            <a:ext cx="5739938" cy="4617720"/>
          </a:xfrm>
          <a:prstGeom prst="roundRect">
            <a:avLst>
              <a:gd name="adj" fmla="val 1524"/>
            </a:avLst>
          </a:prstGeom>
          <a:solidFill>
            <a:srgbClr val="F7F8FC"/>
          </a:solidFill>
          <a:ln/>
        </p:spPr>
      </p:sp>
      <p:pic>
        <p:nvPicPr>
          <p:cNvPr id="5" name="Image 0" descr="usecas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02231" y="1874520"/>
            <a:ext cx="5557058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ChainShield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shipment on a recurring schedule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19456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Solver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/ hub reroute / mode switch, ranked by risk, time &amp; cost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19456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0684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&amp; Chat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and chat over WebSockets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Reports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hubs, cargo, audit log and CSV reports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34340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4983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Q&amp;A grounded in live data, offline fallback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34340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0684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4983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positions, routes and disruption zones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Flask-SQLAlchemy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Flask-Login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Flask-SocketIO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+ eventlet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3544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— all milestones complete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204825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System Design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0" y="208483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706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&amp; Docker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92640" y="2743200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64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0" y="3401568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Engine, Route Solver &amp; Disruptions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0" y="4059936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736592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36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681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Map, Chat, AI &amp; Premium UI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0" y="4718304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534009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Testing (101 checks) &amp; Docker Deploy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92640" y="537667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D5AA8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tracking to preemptive logistics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turns scattered weather, congestion, cargo, and history signals into one transparent risk score per shipment — and pairs every detected disruption with a ranked, actionable route solution, so delays are caught before they cascade.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factors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15468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76072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passed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6676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36676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scan interval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228600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Bhavik A. Visani  ·  Diya Shah  ·  Shruti Somani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 59  |  Guided by Prof. Dhaval Shah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 — live KPIs and charts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1923105" y="1508760"/>
            <a:ext cx="8345789" cy="484632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Admin dashboard — live KPIs and charts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4545" y="1600200"/>
            <a:ext cx="8162909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shipment map with disruption zones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2273808" y="1508760"/>
            <a:ext cx="7644384" cy="484632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Live shipment map with disruption zones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65248" y="1600200"/>
            <a:ext cx="7461504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Disruptions with ranked route options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1923105" y="1508760"/>
            <a:ext cx="8345789" cy="484632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Disruptions with ranked route options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4545" y="1600200"/>
            <a:ext cx="8162909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chat and AI assistant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457200" y="2164080"/>
            <a:ext cx="5547360" cy="353568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sp>
        <p:nvSpPr>
          <p:cNvPr id="41" name="Shape 2"/>
          <p:cNvSpPr/>
          <p:nvPr/>
        </p:nvSpPr>
        <p:spPr>
          <a:xfrm>
            <a:off x="6187440" y="2164080"/>
            <a:ext cx="5547360" cy="353568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Real-time chat and AI assistant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255520"/>
            <a:ext cx="5364480" cy="3352800"/>
          </a:xfrm>
          <a:prstGeom prst="rect">
            <a:avLst/>
          </a:prstGeom>
        </p:spPr>
      </p:pic>
      <p:pic>
        <p:nvPicPr>
          <p:cNvPr id="51" name="Image 0" descr="Real-time chat and AI assistant screenshot 2">    </p:cNvPr>
          <p:cNvPicPr>
            <a:picLocks noChangeAspect="1"/>
          </p:cNvPicPr>
          <p:nvPr/>
        </p:nvPicPr>
        <p:blipFill>
          <a:blip r:embed="rId91"/>
          <a:srcRect l="0" r="0" t="0" b="0"/>
          <a:stretch/>
        </p:blipFill>
        <p:spPr>
          <a:xfrm>
            <a:off x="6278880" y="2255520"/>
            <a:ext cx="5364480" cy="3352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and role-based dashboards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457200" y="1698413"/>
            <a:ext cx="5547360" cy="4467013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sp>
        <p:nvSpPr>
          <p:cNvPr id="41" name="Shape 2"/>
          <p:cNvSpPr/>
          <p:nvPr/>
        </p:nvSpPr>
        <p:spPr>
          <a:xfrm>
            <a:off x="6187440" y="1977813"/>
            <a:ext cx="5547360" cy="3908213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Reports and role-based dashboards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9853"/>
            <a:ext cx="5364480" cy="4284133"/>
          </a:xfrm>
          <a:prstGeom prst="rect">
            <a:avLst/>
          </a:prstGeom>
        </p:spPr>
      </p:pic>
      <p:pic>
        <p:nvPicPr>
          <p:cNvPr id="51" name="Image 0" descr="Reports and role-based dashboards screenshot 2">    </p:cNvPr>
          <p:cNvPicPr>
            <a:picLocks noChangeAspect="1"/>
          </p:cNvPicPr>
          <p:nvPr/>
        </p:nvPicPr>
        <p:blipFill>
          <a:blip r:embed="rId91"/>
          <a:srcRect l="0" r="0" t="0" b="0"/>
          <a:stretch/>
        </p:blipFill>
        <p:spPr>
          <a:xfrm>
            <a:off x="6278880" y="2069253"/>
            <a:ext cx="5364480" cy="37253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 — 101 automated checks, 0 failures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204825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 &amp; account deactivation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0" y="208483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706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formula, disruption creation &amp; escalation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92640" y="2743200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64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solver ranking &amp; resolution alerts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0" y="3401568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&amp; chat (Socket.IO)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0" y="4059936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736592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36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681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CSV export, admin CRUD, demo mode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0" y="4718304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534009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&amp; run (Gunicorn + eventlet)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92640" y="537667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Premium, responsive UI — dark mode and mobile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457200" y="1895856"/>
            <a:ext cx="6405676" cy="4072127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sp>
        <p:nvSpPr>
          <p:cNvPr id="41" name="Shape 2"/>
          <p:cNvSpPr/>
          <p:nvPr/>
        </p:nvSpPr>
        <p:spPr>
          <a:xfrm>
            <a:off x="7045756" y="2649377"/>
            <a:ext cx="4689044" cy="2565085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Premium, responsive UI — dark mode and mobile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87296"/>
            <a:ext cx="6222796" cy="3889247"/>
          </a:xfrm>
          <a:prstGeom prst="rect">
            <a:avLst/>
          </a:prstGeom>
        </p:spPr>
      </p:pic>
      <p:pic>
        <p:nvPicPr>
          <p:cNvPr id="51" name="Image 0" descr="Premium, responsive UI — dark mode and mobile screenshot 2">    </p:cNvPr>
          <p:cNvPicPr>
            <a:picLocks noChangeAspect="1"/>
          </p:cNvPicPr>
          <p:nvPr/>
        </p:nvPicPr>
        <p:blipFill>
          <a:blip r:embed="rId91"/>
          <a:srcRect l="0" r="0" t="0" b="0"/>
          <a:stretch/>
        </p:blipFill>
        <p:spPr>
          <a:xfrm>
            <a:off x="7137196" y="2740817"/>
            <a:ext cx="4506164" cy="2382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2026-08-25T03:07:52Z</dcterms:created>
  <dcterms:modified xsi:type="dcterms:W3CDTF">2026-08-25T03:07:52Z</dcterms:modified>
</cp:coreProperties>
</file>