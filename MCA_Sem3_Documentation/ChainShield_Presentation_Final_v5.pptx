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5156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9FD8D9"/>
                </a:solidFill>
                <a:latin typeface="Times New Roman"/>
              </a:rPr>
              <a:t>A PROJECT REPORT ON  ·  MCA SEMESTER 3  ·  2026-27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Times New Roman"/>
              </a:rPr>
              <a:t>ChainShield Transportation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5156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200" b="0" i="1">
                <a:solidFill>
                  <a:srgbClr val="DDE6F3"/>
                </a:solidFill>
                <a:latin typeface="Times New Roman"/>
              </a:rPr>
              <a:t>Real-Time Disruption Prediction &amp; Route Optimisation for Logistics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337560"/>
            <a:ext cx="1280160" cy="5486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5943600" cy="1645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Times New Roman"/>
              </a:rPr>
              <a:t>Prepared By (Group No. 59)</a:t>
            </a:r>
          </a:p>
          <a:p>
            <a:pPr algn="l"/>
            <a:r>
              <a:rPr sz="1600" b="0" i="0">
                <a:solidFill>
                  <a:srgbClr val="FFFFFF"/>
                </a:solidFill>
                <a:latin typeface="Times New Roman"/>
              </a:rPr>
              <a:t>Bhavik A. Visani  (D51 – 25004401110170)</a:t>
            </a:r>
          </a:p>
          <a:p>
            <a:pPr algn="l"/>
            <a:r>
              <a:rPr sz="1600" b="0" i="0">
                <a:solidFill>
                  <a:srgbClr val="FFFFFF"/>
                </a:solidFill>
                <a:latin typeface="Times New Roman"/>
              </a:rPr>
              <a:t>Diya Shah  (D36 – 25003401110017)</a:t>
            </a:r>
          </a:p>
          <a:p>
            <a:pPr algn="l"/>
            <a:r>
              <a:rPr sz="1600" b="0" i="0">
                <a:solidFill>
                  <a:srgbClr val="FFFFFF"/>
                </a:solidFill>
                <a:latin typeface="Times New Roman"/>
              </a:rPr>
              <a:t>Shruti Somani  (D42 – 25004401110259)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3657600"/>
            <a:ext cx="4389120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Times New Roman"/>
              </a:rPr>
              <a:t>Guided By</a:t>
            </a:r>
          </a:p>
          <a:p>
            <a:pPr algn="l"/>
            <a:r>
              <a:rPr sz="1600" b="0" i="0">
                <a:solidFill>
                  <a:srgbClr val="FFFFFF"/>
                </a:solidFill>
                <a:latin typeface="Times New Roman"/>
              </a:rPr>
              <a:t>Prof. Dhaval Shah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0">
                <a:solidFill>
                  <a:srgbClr val="DDE6F3"/>
                </a:solidFill>
                <a:latin typeface="Times New Roman"/>
              </a:rPr>
              <a:t>LJ Institute of Computer Application  |  Affiliated to LJK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Index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645920"/>
            <a:ext cx="731520" cy="7315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731520" cy="7315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627632"/>
            <a:ext cx="45720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900" b="1" i="0">
                <a:solidFill>
                  <a:srgbClr val="1B2A4A"/>
                </a:solidFill>
                <a:latin typeface="Times New Roman"/>
              </a:rPr>
              <a:t>Introduction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993392"/>
            <a:ext cx="4572000" cy="7315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0">
                <a:solidFill>
                  <a:srgbClr val="666E7A"/>
                </a:solidFill>
                <a:latin typeface="Times New Roman"/>
              </a:rPr>
              <a:t>Problem Definition · Objective of the New System · Core Components · Project Profile · Need of the New System · Scope of the New System · Advantages and Limitations of the Proposed System · Proposed Time Line Chart · Targeted Users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788920"/>
            <a:ext cx="731520" cy="7315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2788920"/>
            <a:ext cx="731520" cy="7315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770632"/>
            <a:ext cx="45720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900" b="1" i="0">
                <a:solidFill>
                  <a:srgbClr val="1B2A4A"/>
                </a:solidFill>
                <a:latin typeface="Times New Roman"/>
              </a:rPr>
              <a:t>Requirement Determination and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136391"/>
            <a:ext cx="4572000" cy="7315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0">
                <a:solidFill>
                  <a:srgbClr val="666E7A"/>
                </a:solidFill>
                <a:latin typeface="Times New Roman"/>
              </a:rPr>
              <a:t>Requirement Determination · Requirement Specification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931920"/>
            <a:ext cx="731520" cy="7315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3931920"/>
            <a:ext cx="731520" cy="7315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913632"/>
            <a:ext cx="45720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900" b="1" i="0">
                <a:solidFill>
                  <a:srgbClr val="1B2A4A"/>
                </a:solidFill>
                <a:latin typeface="Times New Roman"/>
              </a:rPr>
              <a:t>System 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279392"/>
            <a:ext cx="4572000" cy="7315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0">
                <a:solidFill>
                  <a:srgbClr val="666E7A"/>
                </a:solidFill>
                <a:latin typeface="Times New Roman"/>
              </a:rPr>
              <a:t>Use Case Diagram · Data Dictionary · User Interface Design · Report Design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5074920"/>
            <a:ext cx="731520" cy="7315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5074920"/>
            <a:ext cx="731520" cy="7315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5056632"/>
            <a:ext cx="45720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900" b="1" i="0">
                <a:solidFill>
                  <a:srgbClr val="1B2A4A"/>
                </a:solidFill>
                <a:latin typeface="Times New Roman"/>
              </a:rPr>
              <a:t>Development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5422392"/>
            <a:ext cx="4572000" cy="7315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0">
                <a:solidFill>
                  <a:srgbClr val="666E7A"/>
                </a:solidFill>
                <a:latin typeface="Times New Roman"/>
              </a:rPr>
              <a:t>Coding Standards · Implementation Details · Output Screens</a:t>
            </a:r>
          </a:p>
        </p:txBody>
      </p:sp>
      <p:sp>
        <p:nvSpPr>
          <p:cNvPr id="23" name="Oval 22"/>
          <p:cNvSpPr/>
          <p:nvPr/>
        </p:nvSpPr>
        <p:spPr>
          <a:xfrm>
            <a:off x="6217920" y="1645920"/>
            <a:ext cx="731520" cy="7315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17920" y="1645920"/>
            <a:ext cx="731520" cy="7315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1627632"/>
            <a:ext cx="45720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900" b="1" i="0">
                <a:solidFill>
                  <a:srgbClr val="1B2A4A"/>
                </a:solidFill>
                <a:latin typeface="Times New Roman"/>
              </a:rPr>
              <a:t>Testing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1993392"/>
            <a:ext cx="4572000" cy="7315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0">
                <a:solidFill>
                  <a:srgbClr val="666E7A"/>
                </a:solidFill>
                <a:latin typeface="Times New Roman"/>
              </a:rPr>
              <a:t>Test Cases</a:t>
            </a:r>
          </a:p>
        </p:txBody>
      </p:sp>
      <p:sp>
        <p:nvSpPr>
          <p:cNvPr id="27" name="Oval 26"/>
          <p:cNvSpPr/>
          <p:nvPr/>
        </p:nvSpPr>
        <p:spPr>
          <a:xfrm>
            <a:off x="6217920" y="2788920"/>
            <a:ext cx="731520" cy="7315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17920" y="2788920"/>
            <a:ext cx="731520" cy="7315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Times New Roman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2770632"/>
            <a:ext cx="45720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900" b="1" i="0">
                <a:solidFill>
                  <a:srgbClr val="1B2A4A"/>
                </a:solidFill>
                <a:latin typeface="Times New Roman"/>
              </a:rPr>
              <a:t>Proposed Enhancement</a:t>
            </a:r>
          </a:p>
        </p:txBody>
      </p:sp>
      <p:sp>
        <p:nvSpPr>
          <p:cNvPr id="30" name="Oval 29"/>
          <p:cNvSpPr/>
          <p:nvPr/>
        </p:nvSpPr>
        <p:spPr>
          <a:xfrm>
            <a:off x="6217920" y="3931920"/>
            <a:ext cx="731520" cy="7315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17920" y="3931920"/>
            <a:ext cx="731520" cy="7315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Times New Roman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3913632"/>
            <a:ext cx="45720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900" b="1" i="0">
                <a:solidFill>
                  <a:srgbClr val="1B2A4A"/>
                </a:solidFill>
                <a:latin typeface="Times New Roman"/>
              </a:rPr>
              <a:t>Conclusion</a:t>
            </a:r>
          </a:p>
        </p:txBody>
      </p:sp>
      <p:sp>
        <p:nvSpPr>
          <p:cNvPr id="33" name="Oval 32"/>
          <p:cNvSpPr/>
          <p:nvPr/>
        </p:nvSpPr>
        <p:spPr>
          <a:xfrm>
            <a:off x="6217920" y="5074920"/>
            <a:ext cx="731520" cy="7315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17920" y="5074920"/>
            <a:ext cx="731520" cy="7315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Times New Roman"/>
              </a:rP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0" y="5056632"/>
            <a:ext cx="45720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900" b="1" i="0">
                <a:solidFill>
                  <a:srgbClr val="1B2A4A"/>
                </a:solidFill>
                <a:latin typeface="Times New Roman"/>
              </a:rPr>
              <a:t>Bibliography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1.1 Problem Definition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10744200" cy="7132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Hundreds of shipments move at once across road, rail, sea and air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04872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313432"/>
            <a:ext cx="10744200" cy="7132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Exposed to weather, hub/port congestion, customs holds, breakdowns, sensitive cargo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118104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3026664"/>
            <a:ext cx="10744200" cy="7132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Disruptions are noticed only after the delivery date has slipped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831335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3739896"/>
            <a:ext cx="10744200" cy="7132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Manual tracking — phone calls, spreadsheets, e-mail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44568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4453128"/>
            <a:ext cx="10744200" cy="7132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Late detection → fewer route options, higher recovery cost, lost trust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25780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5166360"/>
            <a:ext cx="10744200" cy="7132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No system scores risk continuously and recommends a corrective route in advance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1.2 Objective of the New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10744200" cy="7132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Continuously analyse weather, congestion, cargo and history for every shipment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04872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313432"/>
            <a:ext cx="10744200" cy="7132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Detect disruptions early with a transparent weighted risk score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118104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3026664"/>
            <a:ext cx="10744200" cy="7132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Auto-generate ranked route options: hold, hub reroute, mode switch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831335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3739896"/>
            <a:ext cx="10744200" cy="7132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Notify managers and field operators in real time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44568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4453128"/>
            <a:ext cx="10744200" cy="7132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Role-based dashboards for Admin, Manager and Field Operator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25780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5166360"/>
            <a:ext cx="10744200" cy="7132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Low-cost, self-hosted deployment with Flask + Docker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1.3 Core Components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10744200" cy="66620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Risk Engine — 4-factor score every 60 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57845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266405"/>
            <a:ext cx="10744200" cy="66620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Disruption Manager — opens at MEDIUM, escalates at HIGH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024051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2932611"/>
            <a:ext cx="10744200" cy="66620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Route Solver — hold / hub reroute / mode switch, ranked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690257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3598817"/>
            <a:ext cx="10744200" cy="66620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Notifications &amp; Chat — real-time over Socket.IO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356462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4265022"/>
            <a:ext cx="10744200" cy="66620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Admin Panel &amp; Reports — users, hubs, cargo, audit log, CSV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022668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4931228"/>
            <a:ext cx="10744200" cy="66620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AI Assistant — Gemini with offline fallback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688874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5597434"/>
            <a:ext cx="10744200" cy="66620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Live Map — positions, routes, disruption zones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1.4 Project Profile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00200"/>
          <a:ext cx="11064240" cy="5230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21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Times New Roman"/>
                        </a:rPr>
                        <a:t>Particulars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Times New Roman"/>
                        </a:rPr>
                        <a:t>Details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222222"/>
                          </a:solidFill>
                          <a:latin typeface="Times New Roman"/>
                        </a:rPr>
                        <a:t>Project Title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222"/>
                          </a:solidFill>
                          <a:latin typeface="Times New Roman"/>
                        </a:rPr>
                        <a:t>ChainShield Transportation System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222222"/>
                          </a:solidFill>
                          <a:latin typeface="Times New Roman"/>
                        </a:rPr>
                        <a:t>Group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222"/>
                          </a:solidFill>
                          <a:latin typeface="Times New Roman"/>
                        </a:rPr>
                        <a:t>Group No. 59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222222"/>
                          </a:solidFill>
                          <a:latin typeface="Times New Roman"/>
                        </a:rPr>
                        <a:t>Team Members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222"/>
                          </a:solidFill>
                          <a:latin typeface="Times New Roman"/>
                        </a:rPr>
                        <a:t>Bhavik A. Visani (D51) · Diya Shah (D36) · Shruti Somani (D42)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222222"/>
                          </a:solidFill>
                          <a:latin typeface="Times New Roman"/>
                        </a:rPr>
                        <a:t>Guide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222"/>
                          </a:solidFill>
                          <a:latin typeface="Times New Roman"/>
                        </a:rPr>
                        <a:t>Prof. Dhaval Shah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222222"/>
                          </a:solidFill>
                          <a:latin typeface="Times New Roman"/>
                        </a:rPr>
                        <a:t>Domain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222"/>
                          </a:solidFill>
                          <a:latin typeface="Times New Roman"/>
                        </a:rPr>
                        <a:t>Logistics &amp; Supply Chain Management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222222"/>
                          </a:solidFill>
                          <a:latin typeface="Times New Roman"/>
                        </a:rPr>
                        <a:t>Front End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222"/>
                          </a:solidFill>
                          <a:latin typeface="Times New Roman"/>
                        </a:rPr>
                        <a:t>HTML5, CSS3, Bootstrap 5, Jinja2, JavaScript, Leaflet.js, Chart.js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222222"/>
                          </a:solidFill>
                          <a:latin typeface="Times New Roman"/>
                        </a:rPr>
                        <a:t>Back End / DB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222"/>
                          </a:solidFill>
                          <a:latin typeface="Times New Roman"/>
                        </a:rPr>
                        <a:t>Python 3.10, Flask, Flask-SQLAlchemy / SQLite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222222"/>
                          </a:solidFill>
                          <a:latin typeface="Times New Roman"/>
                        </a:rPr>
                        <a:t>Tools &amp; APIs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222"/>
                          </a:solidFill>
                          <a:latin typeface="Times New Roman"/>
                        </a:rPr>
                        <a:t>Socket.IO, APScheduler, Gemini API, OpenWeatherMap, Docker, Git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222222"/>
                          </a:solidFill>
                          <a:latin typeface="Times New Roman"/>
                        </a:rPr>
                        <a:t>Duration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222"/>
                          </a:solidFill>
                          <a:latin typeface="Times New Roman"/>
                        </a:rPr>
                        <a:t>Aug 2026 – Nov 2026 (Semester 3)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222222"/>
                          </a:solidFill>
                          <a:latin typeface="Times New Roman"/>
                        </a:rPr>
                        <a:t>Live App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222222"/>
                          </a:solidFill>
                          <a:latin typeface="Times New Roman"/>
                        </a:rPr>
                        <a:t>https://chainshield.onrender.com/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1.5 Need of the New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10744200" cy="7132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Reactive monitoring — problems found after complaints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04872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313432"/>
            <a:ext cx="10744200" cy="7132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Tracking shows location, not upcoming risk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118104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3026664"/>
            <a:ext cx="10744200" cy="7132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Weather, congestion, cargo and history data in silos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831335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3739896"/>
            <a:ext cx="10744200" cy="7132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Rerouting based on guesswork, not data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44568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4453128"/>
            <a:ext cx="10744200" cy="7132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Operators informed late by phone or radio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25780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5166360"/>
            <a:ext cx="10744200" cy="7132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No audit trail of decisions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1.6 Scope of the New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5408676" cy="457200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5408676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673352"/>
            <a:ext cx="5134356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Times New Roman"/>
              </a:rPr>
              <a:t>In scope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37744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4860036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Risk scoring of every active shipment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92608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2834640"/>
            <a:ext cx="4860036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Auto disruption + ranked route solutions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47472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3383280"/>
            <a:ext cx="4860036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Manager, operator and admin dashboards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023359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3931920"/>
            <a:ext cx="4860036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Shipment CRUD with validation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57200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4480560"/>
            <a:ext cx="4860036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Reports with date filter + CSV export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12064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" y="5029200"/>
            <a:ext cx="4860036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AI assistant and live map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669279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5577840"/>
            <a:ext cx="4860036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Demo mode for presentations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1636" y="1600200"/>
            <a:ext cx="5408676" cy="457200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31636" y="1600200"/>
            <a:ext cx="5408676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68796" y="1673352"/>
            <a:ext cx="5134356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Times New Roman"/>
              </a:rPr>
              <a:t>Out of scope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14516" y="237744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43116" y="2286000"/>
            <a:ext cx="4860036" cy="56692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Live GPS / telematics hardware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14516" y="2944368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43116" y="2852928"/>
            <a:ext cx="4860036" cy="56692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Payment, billing and SLA modules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14516" y="3511296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643116" y="3419856"/>
            <a:ext cx="4860036" cy="56692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Multi-tenant (many companies)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1.7 Advantages and Limitations of the Proposed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5408676" cy="457200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5408676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673352"/>
            <a:ext cx="5134356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Times New Roman"/>
              </a:rPr>
              <a:t>Advantages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37744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4860036" cy="56692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Preemptive, not reactive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944368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860036" cy="56692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Transparent weighted scoring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511296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3419856"/>
            <a:ext cx="4860036" cy="56692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Operator notified within seconds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078223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3986783"/>
            <a:ext cx="4860036" cy="56692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Role-based views, less overload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645152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4553712"/>
            <a:ext cx="4860036" cy="56692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Cheap, portable Docker deployment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1600200"/>
            <a:ext cx="5408676" cy="457200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31636" y="1600200"/>
            <a:ext cx="5408676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68796" y="1673352"/>
            <a:ext cx="5134356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Times New Roman"/>
              </a:rPr>
              <a:t>Limitations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14516" y="237744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43116" y="2286000"/>
            <a:ext cx="4860036" cy="56692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Near-real-time (60 s interval)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14516" y="2944368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43116" y="2852928"/>
            <a:ext cx="4860036" cy="56692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Public / simulated data feeds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14516" y="3511296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43116" y="3419856"/>
            <a:ext cx="4860036" cy="56692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SQLite — single server only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14516" y="4078223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43116" y="3986783"/>
            <a:ext cx="4860036" cy="56692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AI answers are advisory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1.8 Proposed Time Line Chart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54480"/>
          <a:ext cx="110642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57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57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57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57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57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457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457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4577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4577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4577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4577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4577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4577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4577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4577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44577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</a:tblGrid>
              <a:tr h="365760">
                <a:tc rowSpan="2"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Sr.</a:t>
                      </a:r>
                    </a:p>
                  </a:txBody>
                  <a:tcPr marL="27432" marR="27432" anchor="ctr">
                    <a:solidFill>
                      <a:srgbClr val="1B2A4A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Phase</a:t>
                      </a:r>
                    </a:p>
                  </a:txBody>
                  <a:tcPr marL="27432" marR="27432" anchor="ctr">
                    <a:solidFill>
                      <a:srgbClr val="1B2A4A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Aug 2026</a:t>
                      </a:r>
                    </a:p>
                  </a:txBody>
                  <a:tcPr marL="27432" marR="27432" anchor="ctr">
                    <a:solidFill>
                      <a:srgbClr val="1B2A4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Sep 2026</a:t>
                      </a:r>
                    </a:p>
                  </a:txBody>
                  <a:tcPr marL="27432" marR="27432" anchor="ctr">
                    <a:solidFill>
                      <a:srgbClr val="1B2A4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Oct 2026</a:t>
                      </a:r>
                    </a:p>
                  </a:txBody>
                  <a:tcPr marL="27432" marR="27432" anchor="ctr">
                    <a:solidFill>
                      <a:srgbClr val="1B2A4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Nov 2026</a:t>
                      </a:r>
                    </a:p>
                  </a:txBody>
                  <a:tcPr marL="27432" marR="27432" anchor="ctr">
                    <a:solidFill>
                      <a:srgbClr val="1B2A4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Times New Roman"/>
                        </a:rPr>
                        <a:t>W1</a:t>
                      </a:r>
                    </a:p>
                  </a:txBody>
                  <a:tcPr marL="27432" marR="27432" anchor="ctr">
                    <a:solidFill>
                      <a:srgbClr val="D9E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Times New Roman"/>
                        </a:rPr>
                        <a:t>W2</a:t>
                      </a:r>
                    </a:p>
                  </a:txBody>
                  <a:tcPr marL="27432" marR="27432" anchor="ctr">
                    <a:solidFill>
                      <a:srgbClr val="D9E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Times New Roman"/>
                        </a:rPr>
                        <a:t>W3</a:t>
                      </a:r>
                    </a:p>
                  </a:txBody>
                  <a:tcPr marL="27432" marR="27432" anchor="ctr">
                    <a:solidFill>
                      <a:srgbClr val="D9E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Times New Roman"/>
                        </a:rPr>
                        <a:t>W4</a:t>
                      </a:r>
                    </a:p>
                  </a:txBody>
                  <a:tcPr marL="27432" marR="27432" anchor="ctr">
                    <a:solidFill>
                      <a:srgbClr val="D9E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Times New Roman"/>
                        </a:rPr>
                        <a:t>W1</a:t>
                      </a:r>
                    </a:p>
                  </a:txBody>
                  <a:tcPr marL="27432" marR="27432" anchor="ctr">
                    <a:solidFill>
                      <a:srgbClr val="D9E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Times New Roman"/>
                        </a:rPr>
                        <a:t>W2</a:t>
                      </a:r>
                    </a:p>
                  </a:txBody>
                  <a:tcPr marL="27432" marR="27432" anchor="ctr">
                    <a:solidFill>
                      <a:srgbClr val="D9E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Times New Roman"/>
                        </a:rPr>
                        <a:t>W3</a:t>
                      </a:r>
                    </a:p>
                  </a:txBody>
                  <a:tcPr marL="27432" marR="27432" anchor="ctr">
                    <a:solidFill>
                      <a:srgbClr val="D9E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Times New Roman"/>
                        </a:rPr>
                        <a:t>W4</a:t>
                      </a:r>
                    </a:p>
                  </a:txBody>
                  <a:tcPr marL="27432" marR="27432" anchor="ctr">
                    <a:solidFill>
                      <a:srgbClr val="D9E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Times New Roman"/>
                        </a:rPr>
                        <a:t>W1</a:t>
                      </a:r>
                    </a:p>
                  </a:txBody>
                  <a:tcPr marL="27432" marR="27432" anchor="ctr">
                    <a:solidFill>
                      <a:srgbClr val="D9E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Times New Roman"/>
                        </a:rPr>
                        <a:t>W2</a:t>
                      </a:r>
                    </a:p>
                  </a:txBody>
                  <a:tcPr marL="27432" marR="27432" anchor="ctr">
                    <a:solidFill>
                      <a:srgbClr val="D9E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Times New Roman"/>
                        </a:rPr>
                        <a:t>W3</a:t>
                      </a:r>
                    </a:p>
                  </a:txBody>
                  <a:tcPr marL="27432" marR="27432" anchor="ctr">
                    <a:solidFill>
                      <a:srgbClr val="D9E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Times New Roman"/>
                        </a:rPr>
                        <a:t>W4</a:t>
                      </a:r>
                    </a:p>
                  </a:txBody>
                  <a:tcPr marL="27432" marR="27432" anchor="ctr">
                    <a:solidFill>
                      <a:srgbClr val="D9E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Times New Roman"/>
                        </a:rPr>
                        <a:t>W1</a:t>
                      </a:r>
                    </a:p>
                  </a:txBody>
                  <a:tcPr marL="27432" marR="27432" anchor="ctr">
                    <a:solidFill>
                      <a:srgbClr val="D9E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Times New Roman"/>
                        </a:rPr>
                        <a:t>W2</a:t>
                      </a:r>
                    </a:p>
                  </a:txBody>
                  <a:tcPr marL="27432" marR="27432" anchor="ctr">
                    <a:solidFill>
                      <a:srgbClr val="D9E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Times New Roman"/>
                        </a:rPr>
                        <a:t>W3</a:t>
                      </a:r>
                    </a:p>
                  </a:txBody>
                  <a:tcPr marL="27432" marR="27432" anchor="ctr">
                    <a:solidFill>
                      <a:srgbClr val="D9E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Times New Roman"/>
                        </a:rPr>
                        <a:t>W4</a:t>
                      </a:r>
                    </a:p>
                  </a:txBody>
                  <a:tcPr marL="27432" marR="27432" anchor="ctr">
                    <a:solidFill>
                      <a:srgbClr val="D9E2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Requirement Gathering (R.G.)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Requirement Analysis &amp; SRS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3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System Design (Use Case, DB, UI)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4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Environment &amp; Docker Setup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5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Coding / Development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6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UI Enhancement (Themes, Mobile)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7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Testing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8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Implementation / Deployment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9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Documentation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10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Final Review, Submission &amp; Viva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i="1">
                <a:solidFill>
                  <a:srgbClr val="666E7A"/>
                </a:solidFill>
                <a:latin typeface="Times New Roman"/>
              </a:rPr>
              <a:t>W1 = days 1–7 · W2 = 8–14 · W3 = 15–21 · W4 = 22 to month-end · Documentation runs through every phase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1.9 Targeted Users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10744200" cy="7132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Administrator — users &amp; roles, hubs, cargo types, config, audit log; all manager rights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04872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313432"/>
            <a:ext cx="10744200" cy="7132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Manager — creates shipments, reviews disruptions, applies route solution, reports, AI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118104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3026664"/>
            <a:ext cx="10744200" cy="7132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Field Operators — Driver (road), Loco Pilot (rail), Pilot (air), Captain (sea)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831335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3739896"/>
            <a:ext cx="10744200" cy="7132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Operators see only their shipments, update status, get instant route alerts, chat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44568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4453128"/>
            <a:ext cx="10744200" cy="7132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Scheduler (system actor) — scans risk every 60 s, opens disruptions, sends alerts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25780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5166360"/>
            <a:ext cx="10744200" cy="7132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Indirect — customers, partners and management benefit from fewer delays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2. REQUIREMENT DETERMINATION AND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2.1 Requirement Determination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10744200" cy="66620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Sources: group discussion, study of manual tracking, analysis of user roles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57845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266405"/>
            <a:ext cx="10744200" cy="66620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Login required for every user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024051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2932611"/>
            <a:ext cx="10744200" cy="66620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Continuous, automatic risk evaluation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690257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3598817"/>
            <a:ext cx="10744200" cy="66620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Auto disruption at MEDIUM (≥ 50), escalation at HIGH (≥ 70)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356462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4265022"/>
            <a:ext cx="10744200" cy="66620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≥ 3 ranked route alternatives per disruption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022668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4931228"/>
            <a:ext cx="10744200" cy="66620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Instant notification to field operators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688874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5597434"/>
            <a:ext cx="10744200" cy="66620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Admin management + audit trail; demo mode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2. REQUIREMENT DETERMINATION AND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2.2 Requirement Specification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3514344" cy="457200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3514344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673352"/>
            <a:ext cx="3240024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Times New Roman"/>
              </a:rPr>
              <a:t>Functional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37744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2965704" cy="4800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Login + role-based access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85750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2766060"/>
            <a:ext cx="2965704" cy="4800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Shipment CRUD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33756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3246120"/>
            <a:ext cx="2965704" cy="4800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Scheduled risk scoring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81762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3726180"/>
            <a:ext cx="2965704" cy="4800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Auto disruption alerts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297679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4206240"/>
            <a:ext cx="2965704" cy="4800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Ranked route solutions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77774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" y="4686300"/>
            <a:ext cx="2965704" cy="4800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Real-time notifications &amp; chat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25780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5166360"/>
            <a:ext cx="2965704" cy="4800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Admin CRUD + audit log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73786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0120" y="5646420"/>
            <a:ext cx="2965704" cy="4800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AI assistant, reports + CSV, live map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37304" y="1600200"/>
            <a:ext cx="3514344" cy="457200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37304" y="1600200"/>
            <a:ext cx="3514344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474464" y="1673352"/>
            <a:ext cx="3240024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Times New Roman"/>
              </a:rPr>
              <a:t>Non-Functional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20184" y="237744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748784" y="2286000"/>
            <a:ext cx="2965704" cy="56692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Performance — refresh ≤ 60 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20184" y="2944368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748784" y="2852928"/>
            <a:ext cx="2965704" cy="56692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Usability — responsive, themes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20184" y="3511296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748784" y="3419856"/>
            <a:ext cx="2965704" cy="56692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Portability — Docker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20184" y="4078223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748784" y="3986783"/>
            <a:ext cx="2965704" cy="56692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Reliability — transactional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20184" y="4645152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748784" y="4553712"/>
            <a:ext cx="2965704" cy="56692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Security — hashing, CSRF, roles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20184" y="5212079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748784" y="5120640"/>
            <a:ext cx="2965704" cy="56692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Maintainability — blueprints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25968" y="1600200"/>
            <a:ext cx="3514344" cy="457200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125968" y="1600200"/>
            <a:ext cx="3514344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263128" y="1673352"/>
            <a:ext cx="3240024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Times New Roman"/>
              </a:rPr>
              <a:t>Platform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08847" y="237744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537448" y="2286000"/>
            <a:ext cx="2965704" cy="56692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Python 3.10 + Flask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308847" y="2944368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537448" y="2852928"/>
            <a:ext cx="2965704" cy="56692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SQLite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308847" y="3511296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537448" y="3419856"/>
            <a:ext cx="2965704" cy="56692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Bootstrap 5, Leaflet, Chart.js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308847" y="4078223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537448" y="3986783"/>
            <a:ext cx="2965704" cy="56692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Docker + Gunicorn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308847" y="4645152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537448" y="4553712"/>
            <a:ext cx="2965704" cy="56692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Gemini + OpenWeatherMap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308847" y="5212079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537448" y="5120640"/>
            <a:ext cx="2965704" cy="56692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Windows 11 / any Docker OS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3.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3.1 Use Case Diagram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0" y="182880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80759" y="1737360"/>
            <a:ext cx="5532120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700" b="0" i="0">
                <a:solidFill>
                  <a:srgbClr val="222222"/>
                </a:solidFill>
                <a:latin typeface="Times New Roman"/>
              </a:rPr>
              <a:t>Actors: Admin, Manager, Field Operator, Scheduler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0" y="260604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80759" y="2514600"/>
            <a:ext cx="5532120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700" b="0" i="0">
                <a:solidFill>
                  <a:srgbClr val="222222"/>
                </a:solidFill>
                <a:latin typeface="Times New Roman"/>
              </a:rPr>
              <a:t>Generalization: Admin → Manager → Field Operator (inherits use cases)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0" y="338327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80759" y="3291839"/>
            <a:ext cx="5532120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700" b="0" i="0">
                <a:solidFill>
                  <a:srgbClr val="222222"/>
                </a:solidFill>
                <a:latin typeface="Times New Roman"/>
              </a:rPr>
              <a:t>«include»: Detect &amp; Escalate Disruption → Generate Route Solutions (always)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416051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80759" y="4069079"/>
            <a:ext cx="5532120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700" b="0" i="0">
                <a:solidFill>
                  <a:srgbClr val="222222"/>
                </a:solidFill>
                <a:latin typeface="Times New Roman"/>
              </a:rPr>
              <a:t>«extend»: Export Report (CSV) → View Reports (optional)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720" y="493775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080759" y="4846320"/>
            <a:ext cx="5532120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700" b="0" i="0">
                <a:solidFill>
                  <a:srgbClr val="222222"/>
                </a:solidFill>
                <a:latin typeface="Times New Roman"/>
              </a:rPr>
              <a:t>Straight lines, no overlapping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41A8A33-ACDA-0FE6-930A-FD32713FA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313" y="1336988"/>
            <a:ext cx="3370694" cy="510673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3.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3.1 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15</a:t>
            </a:r>
          </a:p>
        </p:txBody>
      </p:sp>
      <p:pic>
        <p:nvPicPr>
          <p:cNvPr id="7" name="Picture 6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5892" y="1508760"/>
            <a:ext cx="6589735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3.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3.2 Data Dictionary (1/4) — Sample record: id =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3544824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Times New Roman"/>
              </a:rPr>
              <a:t>Table: users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783080"/>
          <a:ext cx="3544822" cy="2715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97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88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6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Field Name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Type (Size)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Sample (id = 1)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name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VARCHAR(100)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Admin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email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VARCHAR(100)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admin@chainshield.com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password_hash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VARCHAR(255)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scrypt:32768:8:1$jCqB…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role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VARCHAR(20)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admin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phone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VARCHAR(20)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NULL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is_active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BOOLEAN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created_at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DATETIME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2026-08-25 03:48:26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322064" y="1417320"/>
            <a:ext cx="3544824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Times New Roman"/>
              </a:rPr>
              <a:t>Table: hubs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322064" y="1783080"/>
          <a:ext cx="3544822" cy="1810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97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88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6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Field Name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Type (Size)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Sample (id = 1)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name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VARCHAR(100)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Ahmedabad Hub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location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VARCHAR(150)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Ahmedabad, Gujarat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lat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FLOAT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23.0225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lng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FLOAT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72.5714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095488" y="1417320"/>
            <a:ext cx="3544824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Times New Roman"/>
              </a:rPr>
              <a:t>Table: cargo_types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8095488" y="1783080"/>
          <a:ext cx="3544822" cy="1207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97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88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6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Field Name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Type (Size)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Sample (id = 1)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name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VARCHAR(50)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General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sensitivity_weight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FLOAT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0.3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3.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3.2 Data Dictionary (2/4) — Sample record: id =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  <a:latin typeface="Times New Roman"/>
              </a:rPr>
              <a:t>Table: shipments</a:t>
            </a:r>
            <a:r>
              <a:rPr sz="1400" b="0" i="0">
                <a:solidFill>
                  <a:srgbClr val="222222"/>
                </a:solidFill>
                <a:latin typeface="Times New Roman"/>
              </a:rPr>
              <a:t> — Every shipment with its route, cargo, assigned operator, live position and current risk.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783080"/>
          <a:ext cx="11064240" cy="4462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8892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Field Name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Data Type (Size)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Constraint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Sample (id = 1)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PRIMARY KEY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tracking_no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VARCHAR(30)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NOT NULL, UNIQUE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CS-1001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origin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VARCHAR(100)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NULL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Ahmedabad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destination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VARCHAR(100)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NULL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Mumbai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cargo_type_id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FOREIGN KEY → cargo_types(id), NULL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2 (Perishable)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transport_mode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VARCHAR(20)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NULL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Road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VARCHAR(20)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DEFAULT 'In-transit'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In-transit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current_lat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FLOAT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NULL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22.30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current_lng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FLOAT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NULL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72.62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risk_score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FLOAT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DEFAULT 0.0, range 0 – 100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0.0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risk_level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VARCHAR(15)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DEFAULT 'LOW'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LOW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cargo_value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FLOAT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DEFAULT 0.0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42000.00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assigned_operator_id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FOREIGN KEY → users(id), NULL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8 (Suresh Yadav, driver)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hub_id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FOREIGN KEY → hubs(id), NULL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1 (Ahmedabad Hub)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created_at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DATETIME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DEFAULT current date-time (UTC)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2026-09-07 06:24:35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3.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3.2 Data Dictionary (3/4) — Sample record: id =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5431536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Times New Roman"/>
              </a:rPr>
              <a:t>Table: disruptions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783080"/>
          <a:ext cx="5431534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4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37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5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Field Name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Type (Size)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Sample (id = 1)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shipment_id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3 (CS-1003)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type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VARCHAR(30)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Cargo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severity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VARCHAR(15)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HIGH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risk_score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FLOAT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79.69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VARCHAR(15)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Resolved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detected_at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DATETIME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2026-10-10 20:06:57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resolved_at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DATETIME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2026-10-11 05:45:02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resolved_by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1 (Admin)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208776" y="1417320"/>
            <a:ext cx="5431536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Times New Roman"/>
              </a:rPr>
              <a:t>Table: route_solutions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08776" y="1783080"/>
          <a:ext cx="5431534" cy="2715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4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37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5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Field Name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Type (Size)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Sample (id = 1)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disruption_id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option_no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description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TEXT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Reroute via Jaipur Hub (+0 km detour, avoids affected corridor)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extra_time_hours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FLOAT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1.5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extra_cost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FLOAT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1501.22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risk_score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FLOAT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23.91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selected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BOOLEAN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3.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3.2 Data Dictionary (4/4) — Sample record: id =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3544824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Times New Roman"/>
              </a:rPr>
              <a:t>Table: notifications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783080"/>
          <a:ext cx="3544822" cy="1810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97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88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6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Field Name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Type (Size)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Sample (id = 1)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user_id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1 (Admin)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message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VARCHAR(255)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MEDIUM risk on CS-1003 (Delhi → Ahmedabad) — Cargo, score 56.53. Route options ready.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is_read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BOOLEAN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created_at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DATETIME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2026-10-10 20:06:57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322064" y="1417320"/>
            <a:ext cx="3544824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Times New Roman"/>
              </a:rPr>
              <a:t>Table: messages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322064" y="1783080"/>
          <a:ext cx="3544822" cy="2112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97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88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6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Field Name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Type (Size)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Sample (id = 1)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sender_id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8 (Suresh Yadav)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receiver_id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1 (Admin)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chat_id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VARCHAR(10)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1-8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content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TEXT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Hello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sent_at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DATETIME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2026-09-24 13:22:49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095488" y="1417320"/>
            <a:ext cx="3544824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Times New Roman"/>
              </a:rPr>
              <a:t>Table: activity_log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8095488" y="1783080"/>
          <a:ext cx="3544822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97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88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6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Field Name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Type (Size)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Sample (id = 1)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user_id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1 (Admin)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action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VARCHAR(255)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Admin resolved the disruption on CS-1002 via 'Hold at current hub until conditions clear'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timestamp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DATETIME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2026-09-07 07:15:49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3.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3.3 User Interface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20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4434840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Jinja2 + Bootstrap 5 with a custom design system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56032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468880"/>
            <a:ext cx="4434840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Shared shell: collapsible sidebar, top bar, notification bell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42900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3337560"/>
            <a:ext cx="4434840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Fixed risk colours: LOW green, AT-RISK amber, MEDIUM orange, HIGH red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29767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4206240"/>
            <a:ext cx="4434840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Light / dark themes, fully responsive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16635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5074920"/>
            <a:ext cx="4434840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Admin panel tabs: Overview, Users, Shipments, Base Cities, Cargo, Reports, Config, Activity Log</a:t>
            </a:r>
          </a:p>
        </p:txBody>
      </p:sp>
      <p:pic>
        <p:nvPicPr>
          <p:cNvPr id="17" name="Picture 16" descr="admi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1458" y="1508760"/>
            <a:ext cx="5467802" cy="448056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18" name="TextBox 17"/>
          <p:cNvSpPr txBox="1"/>
          <p:nvPr/>
        </p:nvSpPr>
        <p:spPr>
          <a:xfrm>
            <a:off x="5577840" y="6035040"/>
            <a:ext cx="60350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0" i="1">
                <a:solidFill>
                  <a:srgbClr val="666E7A"/>
                </a:solidFill>
                <a:latin typeface="Times New Roman"/>
              </a:rPr>
              <a:t>Admin Panel — Overview Dashboard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3.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3.3 User Interface Design — Admin Panel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21</a:t>
            </a:r>
          </a:p>
        </p:txBody>
      </p:sp>
      <p:pic>
        <p:nvPicPr>
          <p:cNvPr id="7" name="Picture 6" descr="admin_us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12975"/>
            <a:ext cx="5394959" cy="307213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5358257"/>
            <a:ext cx="53949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Admin Panel — User Management</a:t>
            </a:r>
          </a:p>
        </p:txBody>
      </p:sp>
      <p:pic>
        <p:nvPicPr>
          <p:cNvPr id="9" name="Picture 8" descr="admin_hub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063114"/>
            <a:ext cx="5394959" cy="337185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217920" y="5508117"/>
            <a:ext cx="53949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Admin Panel — Logistics Hubs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3.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3.3 User Interface Design — Admin Panel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22</a:t>
            </a:r>
          </a:p>
        </p:txBody>
      </p:sp>
      <p:pic>
        <p:nvPicPr>
          <p:cNvPr id="7" name="Picture 6" descr="admin_car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50160"/>
            <a:ext cx="5394959" cy="239776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5021072"/>
            <a:ext cx="53949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Admin Panel — Cargo Types</a:t>
            </a:r>
          </a:p>
        </p:txBody>
      </p:sp>
      <p:pic>
        <p:nvPicPr>
          <p:cNvPr id="9" name="Picture 8" descr="admin_confi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587624"/>
            <a:ext cx="5394959" cy="232283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217920" y="4983607"/>
            <a:ext cx="53949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Admin Panel — System Configuration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3.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3.3 User Interface Design — Admin Panel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23</a:t>
            </a:r>
          </a:p>
        </p:txBody>
      </p:sp>
      <p:pic>
        <p:nvPicPr>
          <p:cNvPr id="7" name="Picture 6" descr="admin_ac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6147" y="1554480"/>
            <a:ext cx="7349224" cy="438912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1463040" y="6016752"/>
            <a:ext cx="92354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Admin Panel — Activity Audit Log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3.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3.4 Report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24</a:t>
            </a:r>
          </a:p>
        </p:txBody>
      </p:sp>
      <p:pic>
        <p:nvPicPr>
          <p:cNvPr id="7" name="Picture 6" descr="re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926" y="1508760"/>
            <a:ext cx="6011186" cy="480060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8046720" y="173736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66760" y="1645920"/>
            <a:ext cx="3246120" cy="6583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Available to Admin and Manager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2395728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66760" y="2304288"/>
            <a:ext cx="3246120" cy="6583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From – To date-range filter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3054096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66760" y="2962656"/>
            <a:ext cx="3246120" cy="6583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1. Disruption Summary (CSV)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3712463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66760" y="3621024"/>
            <a:ext cx="3246120" cy="6583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2. Resolution Time per decision-maker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4370831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66760" y="4279392"/>
            <a:ext cx="3246120" cy="6583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3. Activity Audit Log (CSV)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502919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66760" y="4937759"/>
            <a:ext cx="3246120" cy="6583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4. Shipment Risk (CSV)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5687568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66760" y="5596128"/>
            <a:ext cx="3246120" cy="6583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CSV opens directly in Excel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4.1 Coding Standards (1/9)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429768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Times New Roman"/>
              </a:rPr>
              <a:t>1. PEP 8 Naming, Type Hints and Docstrings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1460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3977640" cy="12344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All Python code follows PEP 8: 4-space indentation, snake_case for functions and variables, PascalCase for classes and UPPER_CASE for constants.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74903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3657600"/>
            <a:ext cx="3977640" cy="12344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Functions carry type hints and a docstring, so every member of the group can read and review another member's code without explanation.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983480"/>
            <a:ext cx="4297680" cy="123444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5029200"/>
            <a:ext cx="4069080" cy="11430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Times New Roman"/>
              </a:rPr>
              <a:t>Example:</a:t>
            </a:r>
            <a:r>
              <a:rPr sz="1300" b="0" i="0">
                <a:solidFill>
                  <a:srgbClr val="222222"/>
                </a:solidFill>
                <a:latin typeface="Times New Roman"/>
              </a:rPr>
              <a:t> compute_risk_score() and classify_risk() in app/services/risk_engine.py; the constant ALERT_LEVELS; the class RouteSolution in app/models.py.</a:t>
            </a:r>
          </a:p>
        </p:txBody>
      </p:sp>
      <p:pic>
        <p:nvPicPr>
          <p:cNvPr id="14" name="Picture 13" descr="cs1_pep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407693"/>
            <a:ext cx="6492240" cy="27741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120640" y="5227546"/>
            <a:ext cx="6492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0" i="1">
                <a:solidFill>
                  <a:srgbClr val="666E7A"/>
                </a:solidFill>
                <a:latin typeface="Times New Roman"/>
              </a:rPr>
              <a:t>Screenshot — Naming, type hints and docstring in the risk engine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4.1 Coding Standards (2/9)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429768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Times New Roman"/>
              </a:rPr>
              <a:t>2. Application Factory Pattern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1460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3977640" cy="12344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The Flask application is never created at import time; create_app() builds it from a named configuration (development, testing or production).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74903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3657600"/>
            <a:ext cx="3977640" cy="12344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This lets the same code run on a laptop, inside the automated tests and inside Docker, each with its own settings.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983480"/>
            <a:ext cx="4297680" cy="123444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5029200"/>
            <a:ext cx="4069080" cy="11430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Times New Roman"/>
              </a:rPr>
              <a:t>Example:</a:t>
            </a:r>
            <a:r>
              <a:rPr sz="1300" b="0" i="0">
                <a:solidFill>
                  <a:srgbClr val="222222"/>
                </a:solidFill>
                <a:latin typeface="Times New Roman"/>
              </a:rPr>
              <a:t> create_app("testing") gives the test suite a fresh in-memory database, while Docker calls create_app("production").</a:t>
            </a:r>
          </a:p>
        </p:txBody>
      </p:sp>
      <p:pic>
        <p:nvPicPr>
          <p:cNvPr id="14" name="Picture 13" descr="cs2_fac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760832"/>
            <a:ext cx="6492239" cy="206785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120640" y="4874407"/>
            <a:ext cx="6492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0" i="1">
                <a:solidFill>
                  <a:srgbClr val="666E7A"/>
                </a:solidFill>
                <a:latin typeface="Times New Roman"/>
              </a:rPr>
              <a:t>Screenshot — create_app() in app/__init__.py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4.1 Coding Standards (3/9)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429768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Times New Roman"/>
              </a:rPr>
              <a:t>3. Modular Blueprint Structure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1460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3977640" cy="12344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Each feature lives in its own Flask blueprint with its own URL prefix, routes and templates.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74903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3657600"/>
            <a:ext cx="3977640" cy="12344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A feature can therefore be changed, tested or disabled without touching the others.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983480"/>
            <a:ext cx="4297680" cy="123444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5029200"/>
            <a:ext cx="4069080" cy="11430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Times New Roman"/>
              </a:rPr>
              <a:t>Example:</a:t>
            </a:r>
            <a:r>
              <a:rPr sz="1300" b="0" i="0">
                <a:solidFill>
                  <a:srgbClr val="222222"/>
                </a:solidFill>
                <a:latin typeface="Times New Roman"/>
              </a:rPr>
              <a:t> shipments_bp serves everything under /shipments, disruptions_bp under /disruptions and chat_bp under /chat.</a:t>
            </a:r>
          </a:p>
        </p:txBody>
      </p:sp>
      <p:pic>
        <p:nvPicPr>
          <p:cNvPr id="14" name="Picture 13" descr="cs3_bluepri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392624"/>
            <a:ext cx="6492239" cy="280427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120640" y="5242615"/>
            <a:ext cx="6492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0" i="1">
                <a:solidFill>
                  <a:srgbClr val="666E7A"/>
                </a:solidFill>
                <a:latin typeface="Times New Roman"/>
              </a:rPr>
              <a:t>Screenshot — Blueprint registration in app/__init__.py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4.1 Coding Standards (4/9)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429768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Times New Roman"/>
              </a:rPr>
              <a:t>4. Single Source of Configuration — No Hard-coded Secrets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1460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3977640" cy="12344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Risk weights, the scan interval and model names are defined once in app/config.py; API keys and the secret key are read from a .env file.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74903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3657600"/>
            <a:ext cx="3977640" cy="12344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The .env file is excluded from Git and Docker, so no password or key is ever committed to the repository.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983480"/>
            <a:ext cx="4297680" cy="123444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5029200"/>
            <a:ext cx="4069080" cy="11430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Times New Roman"/>
              </a:rPr>
              <a:t>Example:</a:t>
            </a:r>
            <a:r>
              <a:rPr sz="1300" b="0" i="0">
                <a:solidFill>
                  <a:srgbClr val="222222"/>
                </a:solidFill>
                <a:latin typeface="Times New Roman"/>
              </a:rPr>
              <a:t> RISK_WEIGHT_WEATHER = 0.40 is read by the risk engine; GEMINI_API_KEY = os.environ.get("GEMINI_API_KEY", "").</a:t>
            </a:r>
          </a:p>
        </p:txBody>
      </p:sp>
      <p:pic>
        <p:nvPicPr>
          <p:cNvPr id="14" name="Picture 13" descr="cs4_con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581835"/>
            <a:ext cx="6492240" cy="242584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120640" y="5053404"/>
            <a:ext cx="6492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0" i="1">
                <a:solidFill>
                  <a:srgbClr val="666E7A"/>
                </a:solidFill>
                <a:latin typeface="Times New Roman"/>
              </a:rPr>
              <a:t>Screenshot — Centralised settings in app/config.py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4.1 Coding Standards (5/9)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429768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Times New Roman"/>
              </a:rPr>
              <a:t>5. ORM Models Instead of Raw SQL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1460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3977640" cy="12344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All nine tables are Python classes in app/models.py, and every query goes through Flask-SQLAlchemy.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74903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3657600"/>
            <a:ext cx="3977640" cy="12344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Queries are parameterised automatically, which prevents SQL injection, and the database can be moved to PostgreSQL by changing only DATABASE_URL.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983480"/>
            <a:ext cx="4297680" cy="123444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5029200"/>
            <a:ext cx="4069080" cy="11430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Times New Roman"/>
              </a:rPr>
              <a:t>Example:</a:t>
            </a:r>
            <a:r>
              <a:rPr sz="1300" b="0" i="0">
                <a:solidFill>
                  <a:srgbClr val="222222"/>
                </a:solidFill>
                <a:latin typeface="Times New Roman"/>
              </a:rPr>
              <a:t> User.query.filter_by(email=form.email.data).first() instead of a hand-written SELECT statement.</a:t>
            </a:r>
          </a:p>
        </p:txBody>
      </p:sp>
      <p:pic>
        <p:nvPicPr>
          <p:cNvPr id="14" name="Picture 13" descr="cs5_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259649"/>
            <a:ext cx="6492239" cy="30702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120640" y="5375590"/>
            <a:ext cx="6492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0" i="1">
                <a:solidFill>
                  <a:srgbClr val="666E7A"/>
                </a:solidFill>
                <a:latin typeface="Times New Roman"/>
              </a:rPr>
              <a:t>Screenshot — The User model with password hashing helpers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4.1 Coding Standards (6/9)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429768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Times New Roman"/>
              </a:rPr>
              <a:t>6. Server-side Form Validation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1460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3977640" cy="12344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Every form is validated on the server with Flask-WTF before anything is saved, because browser-side checks can be bypassed.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74903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3657600"/>
            <a:ext cx="3977640" cy="12344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Business rules that span two fields are written in a validate() method of the form class.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983480"/>
            <a:ext cx="4297680" cy="123444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5029200"/>
            <a:ext cx="4069080" cy="11430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Times New Roman"/>
              </a:rPr>
              <a:t>Example:</a:t>
            </a:r>
            <a:r>
              <a:rPr sz="1300" b="0" i="0">
                <a:solidFill>
                  <a:srgbClr val="222222"/>
                </a:solidFill>
                <a:latin typeface="Times New Roman"/>
              </a:rPr>
              <a:t> ShipmentForm rejects a shipment whose destination equals its origin and any latitude outside −90 to 90.</a:t>
            </a:r>
          </a:p>
        </p:txBody>
      </p:sp>
      <p:pic>
        <p:nvPicPr>
          <p:cNvPr id="14" name="Picture 13" descr="cs6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466701"/>
            <a:ext cx="6492240" cy="265611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120640" y="5168538"/>
            <a:ext cx="6492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0" i="1">
                <a:solidFill>
                  <a:srgbClr val="666E7A"/>
                </a:solidFill>
                <a:latin typeface="Times New Roman"/>
              </a:rPr>
              <a:t>Screenshot — ShipmentForm in app/forms.py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4.1 Coding Standards (7/9)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429768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Times New Roman"/>
              </a:rPr>
              <a:t>7. Security by Default — Role Decorators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1460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3977640" cy="12344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Access rules are written once as decorators and placed on top of each route, so no page can forget its permission check.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74903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3657600"/>
            <a:ext cx="3977640" cy="12344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Together with CSRF tokens on every form, Werkzeug password hashing and Jinja2 auto-escaping, this protects against the common web attacks.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983480"/>
            <a:ext cx="4297680" cy="123444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5029200"/>
            <a:ext cx="4069080" cy="11430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Times New Roman"/>
              </a:rPr>
              <a:t>Example:</a:t>
            </a:r>
            <a:r>
              <a:rPr sz="1300" b="0" i="0">
                <a:solidFill>
                  <a:srgbClr val="222222"/>
                </a:solidFill>
                <a:latin typeface="Times New Roman"/>
              </a:rPr>
              <a:t> @manager_required on /shipments/new returns 403 Forbidden to drivers, pilots, captains and loco pilots.</a:t>
            </a:r>
          </a:p>
        </p:txBody>
      </p:sp>
      <p:pic>
        <p:nvPicPr>
          <p:cNvPr id="14" name="Picture 13" descr="cs7_secu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760832"/>
            <a:ext cx="6492239" cy="206785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120640" y="4874407"/>
            <a:ext cx="6492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0" i="1">
                <a:solidFill>
                  <a:srgbClr val="666E7A"/>
                </a:solidFill>
                <a:latin typeface="Times New Roman"/>
              </a:rPr>
              <a:t>Screenshot — manager_required decorator in the shipments blueprint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4.1 Coding Standards (8/9)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429768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Times New Roman"/>
              </a:rPr>
              <a:t>8. Template Inheritance and Reusable Macros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1460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3977640" cy="12344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base.html defines the sidebar, top bar and scripts once, and every page only fills its content block.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74903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3657600"/>
            <a:ext cx="3977640" cy="12344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Repeated interface pieces are Jinja2 macros, so a design change is made in exactly one place.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983480"/>
            <a:ext cx="4297680" cy="123444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5029200"/>
            <a:ext cx="4069080" cy="11430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Times New Roman"/>
              </a:rPr>
              <a:t>Example:</a:t>
            </a:r>
            <a:r>
              <a:rPr sz="1300" b="0" i="0">
                <a:solidFill>
                  <a:srgbClr val="222222"/>
                </a:solidFill>
                <a:latin typeface="Times New Roman"/>
              </a:rPr>
              <a:t> {{ risk_badge(s.risk_level, s.risk_score) }} draws the same coloured risk pill on the dashboard, shipment list and map pop-ups.</a:t>
            </a:r>
          </a:p>
        </p:txBody>
      </p:sp>
      <p:pic>
        <p:nvPicPr>
          <p:cNvPr id="14" name="Picture 13" descr="cs8_templ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3246458"/>
            <a:ext cx="6492240" cy="109660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120640" y="4388781"/>
            <a:ext cx="6492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0" i="1">
                <a:solidFill>
                  <a:srgbClr val="666E7A"/>
                </a:solidFill>
                <a:latin typeface="Times New Roman"/>
              </a:rPr>
              <a:t>Screenshot — risk_badge macro in app/templates/_macros.html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4.1 Coding Standards (9/9)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429768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Times New Roman"/>
              </a:rPr>
              <a:t>9. Version Control and Pinned Dependencies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1460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3977640" cy="12344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Git records every feature with a descriptive commit message, and every library version is pinned in requirements.txt.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74903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3657600"/>
            <a:ext cx="3977640" cy="12344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The Dockerfile installs exactly these versions on Python 3.10, so the application behaves identically on every machine.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983480"/>
            <a:ext cx="4297680" cy="123444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5029200"/>
            <a:ext cx="4069080" cy="11430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Times New Roman"/>
              </a:rPr>
              <a:t>Example:</a:t>
            </a:r>
            <a:r>
              <a:rPr sz="1300" b="0" i="0">
                <a:solidFill>
                  <a:srgbClr val="222222"/>
                </a:solidFill>
                <a:latin typeface="Times New Roman"/>
              </a:rPr>
              <a:t> Commit “Add admin CRUD, reports with CSV export, demo mode and map zones”; Flask==3.0.3 in requirements.txt.</a:t>
            </a:r>
          </a:p>
        </p:txBody>
      </p:sp>
      <p:pic>
        <p:nvPicPr>
          <p:cNvPr id="14" name="Picture 13" descr="cs9_require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613549"/>
            <a:ext cx="6492239" cy="23624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120640" y="5021690"/>
            <a:ext cx="6492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0" i="1">
                <a:solidFill>
                  <a:srgbClr val="666E7A"/>
                </a:solidFill>
                <a:latin typeface="Times New Roman"/>
              </a:rPr>
              <a:t>Screenshot — Pinned dependencies in requirements.txt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4.2 Implementation Details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34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10744200" cy="66620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Risk Engine: 0.40 W + 0.25 C + 0.20 Cargo + 0.15 History (each 0–100)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57845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266405"/>
            <a:ext cx="10744200" cy="66620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Thresholds: ≥70 HIGH, ≥50 MEDIUM, ≥30 AT-RISK, else 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024051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2932611"/>
            <a:ext cx="10744200" cy="66620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Route Solver: hold / continue / 2 hub reroutes / mode switch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690257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3598817"/>
            <a:ext cx="10744200" cy="66620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Ranking: 0.60 risk + 0.25 time + 0.15 cost → Option 1 recommended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356462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4265022"/>
            <a:ext cx="10744200" cy="66620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Socket.IO personal rooms; live map &amp; charts refresh without polling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022668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4931228"/>
            <a:ext cx="10744200" cy="66620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AI Assistant: Gemini on live data, offline fallback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688874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5597434"/>
            <a:ext cx="10744200" cy="66620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Security: hashing, CSRF, role checks; Docker + Gunicorn + eventlet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4.3 Output Screens (1/8)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35</a:t>
            </a:r>
          </a:p>
        </p:txBody>
      </p:sp>
      <p:pic>
        <p:nvPicPr>
          <p:cNvPr id="7" name="Picture 6" descr="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63114"/>
            <a:ext cx="5394959" cy="337185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5508117"/>
            <a:ext cx="53949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Landing Page</a:t>
            </a:r>
          </a:p>
        </p:txBody>
      </p:sp>
      <p:pic>
        <p:nvPicPr>
          <p:cNvPr id="9" name="Picture 8" descr="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063114"/>
            <a:ext cx="5394959" cy="337185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217920" y="5508117"/>
            <a:ext cx="53949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Login Screen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4.3 Output Screens (2/8)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36</a:t>
            </a:r>
          </a:p>
        </p:txBody>
      </p:sp>
      <p:pic>
        <p:nvPicPr>
          <p:cNvPr id="7" name="Picture 6" descr="regi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63114"/>
            <a:ext cx="5394959" cy="337185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5508117"/>
            <a:ext cx="53949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Registration Screen</a:t>
            </a:r>
          </a:p>
        </p:txBody>
      </p:sp>
      <p:pic>
        <p:nvPicPr>
          <p:cNvPr id="9" name="Picture 8" descr="live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063114"/>
            <a:ext cx="5394959" cy="337185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217920" y="5508117"/>
            <a:ext cx="53949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Live Shipment Map with Disruption Zones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4.3 Output Screens (3/8)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37</a:t>
            </a:r>
          </a:p>
        </p:txBody>
      </p:sp>
      <p:pic>
        <p:nvPicPr>
          <p:cNvPr id="7" name="Picture 6" descr="disrup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63394"/>
            <a:ext cx="5394959" cy="397129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5807837"/>
            <a:ext cx="53949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Disruptions with Ranked Route Options</a:t>
            </a:r>
          </a:p>
        </p:txBody>
      </p:sp>
      <p:pic>
        <p:nvPicPr>
          <p:cNvPr id="9" name="Picture 8" descr="shipm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138045"/>
            <a:ext cx="5394959" cy="322199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217920" y="5433187"/>
            <a:ext cx="53949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Shipment List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4.3 Output Screens (4/8)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38</a:t>
            </a:r>
          </a:p>
        </p:txBody>
      </p:sp>
      <p:pic>
        <p:nvPicPr>
          <p:cNvPr id="7" name="Picture 6" descr="shipment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63114"/>
            <a:ext cx="5394959" cy="337185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5508117"/>
            <a:ext cx="53949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Shipment Detail with Mini-map and History</a:t>
            </a:r>
          </a:p>
        </p:txBody>
      </p:sp>
      <p:pic>
        <p:nvPicPr>
          <p:cNvPr id="9" name="Picture 8" descr="shipment_fo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950720"/>
            <a:ext cx="5394959" cy="359664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217920" y="5620512"/>
            <a:ext cx="53949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Create Shipment Form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4.3 Output Screens (5/8)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39</a:t>
            </a:r>
          </a:p>
        </p:txBody>
      </p:sp>
      <p:pic>
        <p:nvPicPr>
          <p:cNvPr id="7" name="Picture 6" descr="drive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75790"/>
            <a:ext cx="5394959" cy="374650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5695442"/>
            <a:ext cx="53949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Field Operator (Driver) Dashboard</a:t>
            </a:r>
          </a:p>
        </p:txBody>
      </p:sp>
      <p:pic>
        <p:nvPicPr>
          <p:cNvPr id="9" name="Picture 8" descr="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063114"/>
            <a:ext cx="5394959" cy="337185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217920" y="5508117"/>
            <a:ext cx="53949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Real-time Team Chat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4.3 Output Screens (6/8)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40</a:t>
            </a:r>
          </a:p>
        </p:txBody>
      </p:sp>
      <p:pic>
        <p:nvPicPr>
          <p:cNvPr id="7" name="Picture 6" descr="notific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00300"/>
            <a:ext cx="5394959" cy="2697479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5170931"/>
            <a:ext cx="53949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Notification Feed</a:t>
            </a:r>
          </a:p>
        </p:txBody>
      </p:sp>
      <p:pic>
        <p:nvPicPr>
          <p:cNvPr id="9" name="Picture 8" descr="assista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063114"/>
            <a:ext cx="5394959" cy="337185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217920" y="5508117"/>
            <a:ext cx="53949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AI Assistant with Suggested Questions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4.3 Output Screens (7/8)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41</a:t>
            </a:r>
          </a:p>
        </p:txBody>
      </p:sp>
      <p:pic>
        <p:nvPicPr>
          <p:cNvPr id="7" name="Picture 6" descr="dark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63114"/>
            <a:ext cx="5394959" cy="337185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5508117"/>
            <a:ext cx="53949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Dark Theme — Dashboard</a:t>
            </a:r>
          </a:p>
        </p:txBody>
      </p:sp>
      <p:pic>
        <p:nvPicPr>
          <p:cNvPr id="9" name="Picture 8" descr="dark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063114"/>
            <a:ext cx="5394959" cy="337185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217920" y="5508117"/>
            <a:ext cx="53949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Dark Theme — Live Map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4.3 Output Screens (8/8)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42</a:t>
            </a:r>
          </a:p>
        </p:txBody>
      </p:sp>
      <p:pic>
        <p:nvPicPr>
          <p:cNvPr id="7" name="Picture 6" descr="mob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9545" y="1554480"/>
            <a:ext cx="8302428" cy="438912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1463040" y="6016752"/>
            <a:ext cx="92354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Mobile Views — Dashboard, Disruptions, Live Map and Navigation Drawer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5.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5.1 Test Cases (1/2) — 101 automated checks, 0 failures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43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54480"/>
          <a:ext cx="11064240" cy="4535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ID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Test Case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Test Data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Expected Result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TC001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User Login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email = manisha@chainshield.com, password = demo1234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User is authenticated and redirected to the role-specific dashboard.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TC002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Risk Score Calculation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Weather = 80, Congestion = 60, Cargo = 50, History = 40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Score = 0.40×80 + 0.25×60 + 0.20×50 + 0.15×40 = 63 (MEDIUM)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TC003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Automatic Disruption &amp; Escalation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Scan 1: score 55 (MEDIUM); Scan 2: score 74 (HIGH)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One disruption opened at MEDIUM with ≥ 3 ranked solutions, then escalated to HIGH with re-planned options.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TC004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Route Solution &amp; Notification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Manager selects Option 1 “Reroute via Jaipur Hub”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Disruption becomes Resolved; operator receives a live notification; action logged.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TC005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Admin CRUD (Cargo Type)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name = Pharma, weight 0.9 → 0.85; weight 1.5 (invalid)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Cargo type saved, edited and deleted; weight outside 0.0–1.0 rejected.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TC006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Docker Container Startup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docker compose up --build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Image builds; Gunicorn + eventlet starts on port 5000; /health returns ok.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TC007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Role-Based Access Control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GET /dashboard/users, /shipments/new, /reports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403 Forbidden for admin/manager pages; 404 for other operators' shipments.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5.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5.1 Test Cases (2/2) — 101 automated checks, 0 failures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44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54480"/>
          <a:ext cx="11064240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ID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Test Case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Test Data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Expected Result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TC008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Real-time Chat Delivery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Admin sends “Hold CS-1001 at Surat”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Message saved and appears instantly in the driver's open chat.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TC009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AI Assistant with Fallback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“Give me a summary” with valid and invalid key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Gemini answer with valid key; offline engine answers with invalid key.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TC010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Reports and CSV Export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/reports?from=2026-09-01&amp;to=2026-09-30; disruptions.csv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Four reports shown; CSV opens in Excel; filter limits rows.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TC011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User Deactivation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Admin clicks Deactivate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Login refused with message; open session logged out.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TC012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Demo Disruption Trigger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Click “Trigger demo disruption”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HIGH disruption with ranked options, map zone and live alert appear.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TC013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Responsive Layout and Themes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Open 8 main pages; toggle dark mode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No sideways scrolling on phone; drawer works; theme remembered.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6. PROPOSED ENHANCEMENT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6 Proposed Enhancement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45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10744200" cy="518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Real GPS / telematics feeds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0980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118360"/>
            <a:ext cx="10744200" cy="518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PostgreSQL for production scale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72796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2636520"/>
            <a:ext cx="10744200" cy="518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ML-based risk prediction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4612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3154680"/>
            <a:ext cx="10744200" cy="518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Mobile app / PWA for operators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76427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3672840"/>
            <a:ext cx="10744200" cy="518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Multi-tenant support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28243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4190999"/>
            <a:ext cx="10744200" cy="518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SMS &amp; WhatsApp alerts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80060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4709160"/>
            <a:ext cx="10744200" cy="518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Customs &amp; port APIs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31876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5227320"/>
            <a:ext cx="10744200" cy="518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Smarter AI assistant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83692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5745480"/>
            <a:ext cx="10744200" cy="518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PDF reports &amp; scheduled e-mails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7.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7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46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2587752" cy="164592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2587752" cy="9144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4800" b="1" i="0">
                <a:solidFill>
                  <a:srgbClr val="1B2A4A"/>
                </a:solidFill>
                <a:latin typeface="Times New Roman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97480"/>
            <a:ext cx="2587752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500" b="0" i="0">
                <a:solidFill>
                  <a:srgbClr val="666E7A"/>
                </a:solidFill>
                <a:latin typeface="Times New Roman"/>
              </a:rPr>
              <a:t>Weighted risk factors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64992" y="1645920"/>
            <a:ext cx="2587752" cy="164592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64992" y="1737360"/>
            <a:ext cx="2587752" cy="9144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4800" b="1" i="0">
                <a:solidFill>
                  <a:srgbClr val="1B2A4A"/>
                </a:solidFill>
                <a:latin typeface="Times New Roman"/>
              </a:rP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64992" y="2697480"/>
            <a:ext cx="2587752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500" b="0" i="0">
                <a:solidFill>
                  <a:srgbClr val="666E7A"/>
                </a:solidFill>
                <a:latin typeface="Times New Roman"/>
              </a:rPr>
              <a:t>Database tables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81344" y="1645920"/>
            <a:ext cx="2587752" cy="164592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81344" y="1737360"/>
            <a:ext cx="2587752" cy="9144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4800" b="1" i="0">
                <a:solidFill>
                  <a:srgbClr val="1B2A4A"/>
                </a:solidFill>
                <a:latin typeface="Times New Roman"/>
              </a:rPr>
              <a:t>101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81344" y="2697480"/>
            <a:ext cx="2587752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500" b="0" i="0">
                <a:solidFill>
                  <a:srgbClr val="666E7A"/>
                </a:solidFill>
                <a:latin typeface="Times New Roman"/>
              </a:rPr>
              <a:t>Automated checks passed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97696" y="1645920"/>
            <a:ext cx="2587752" cy="164592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97696" y="1737360"/>
            <a:ext cx="2587752" cy="9144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4800" b="1" i="0">
                <a:solidFill>
                  <a:srgbClr val="1B2A4A"/>
                </a:solidFill>
                <a:latin typeface="Times New Roman"/>
              </a:rPr>
              <a:t>60 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97696" y="2697480"/>
            <a:ext cx="2587752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500" b="0" i="0">
                <a:solidFill>
                  <a:srgbClr val="666E7A"/>
                </a:solidFill>
                <a:latin typeface="Times New Roman"/>
              </a:rPr>
              <a:t>Risk scan interval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79475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3703320"/>
            <a:ext cx="10744200" cy="62179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Moves logistics from reactive to preemptive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416551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4325112"/>
            <a:ext cx="10744200" cy="62179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Every disruption paired with ranked route options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038344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4946904"/>
            <a:ext cx="10744200" cy="62179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Self-hosted Flask + SQLite + Docker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660136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68680" y="5568696"/>
            <a:ext cx="10744200" cy="62179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Fully built, tested and deployable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8. BIBLIOGRAPHY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8 Bibliography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47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5408676" cy="457200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5408676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673352"/>
            <a:ext cx="5134356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Times New Roman"/>
              </a:rPr>
              <a:t>Books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37744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4860036" cy="56692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Flask Web Development — M. Grinberg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944368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860036" cy="56692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Python Crash Course — E. Matthes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511296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3419856"/>
            <a:ext cx="4860036" cy="56692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Fundamentals of Database Systems — Elmasri &amp; Navathe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078223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3986783"/>
            <a:ext cx="4860036" cy="56692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Software Engineering — I. Sommerville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1636" y="1600200"/>
            <a:ext cx="5408676" cy="457200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31636" y="1600200"/>
            <a:ext cx="5408676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68796" y="1673352"/>
            <a:ext cx="5134356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Times New Roman"/>
              </a:rPr>
              <a:t>Websites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14516" y="237744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43116" y="2286000"/>
            <a:ext cx="4860036" cy="56692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flask.palletsprojects.com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14516" y="2944368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43116" y="2852928"/>
            <a:ext cx="4860036" cy="56692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docs.python.org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14516" y="3511296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43116" y="3419856"/>
            <a:ext cx="4860036" cy="56692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sqlite.org / docs.docker.com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14516" y="4078223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43116" y="3986783"/>
            <a:ext cx="4860036" cy="56692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getbootstrap.com / leafletjs.com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14516" y="4645152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43116" y="4553712"/>
            <a:ext cx="4860036" cy="56692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flask-socketio / apscheduler docs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14516" y="5212079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643116" y="5120640"/>
            <a:ext cx="4860036" cy="56692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ai.google.dev (Gemini) / openweathermap.org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Times New Roman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63240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400" b="0" i="1">
                <a:solidFill>
                  <a:srgbClr val="DDE6F3"/>
                </a:solidFill>
                <a:latin typeface="Times New Roman"/>
              </a:rPr>
              <a:t>Questions &amp; 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794760"/>
            <a:ext cx="1280160" cy="5486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4114800"/>
            <a:ext cx="105156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Times New Roman"/>
              </a:rPr>
              <a:t>Bhavik A. Visani  ·  Diya Shah  ·  Shruti Somani</a:t>
            </a:r>
          </a:p>
          <a:p>
            <a:pPr algn="l"/>
            <a:r>
              <a:rPr sz="1600" b="0" i="0">
                <a:solidFill>
                  <a:srgbClr val="FFFFFF"/>
                </a:solidFill>
                <a:latin typeface="Times New Roman"/>
              </a:rPr>
              <a:t>Group No. 59  |  Guided by Prof. Dhaval Shah  |  LJ Institute of Computer Application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4384</Words>
  <Application>Microsoft Office PowerPoint</Application>
  <PresentationFormat>Widescreen</PresentationFormat>
  <Paragraphs>807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2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bhavik visani</cp:lastModifiedBy>
  <cp:revision>2</cp:revision>
  <dcterms:created xsi:type="dcterms:W3CDTF">2013-01-27T09:14:16Z</dcterms:created>
  <dcterms:modified xsi:type="dcterms:W3CDTF">2026-10-16T06:27:46Z</dcterms:modified>
  <cp:category/>
</cp:coreProperties>
</file>