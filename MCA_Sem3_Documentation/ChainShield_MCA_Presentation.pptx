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2A63"/>
              </a:solidFill>
              <a:effectLst/>
            </c:spPr>
          </c:dPt>
          <c:dPt>
            <c:idx val="1"/>
            <c:bubble3D val="0"/>
            <c:spPr>
              <a:solidFill>
                <a:srgbClr val="3D5AA8"/>
              </a:solidFill>
              <a:effectLst/>
            </c:spPr>
          </c:dPt>
          <c:dPt>
            <c:idx val="2"/>
            <c:bubble3D val="0"/>
            <c:spPr>
              <a:solidFill>
                <a:srgbClr val="E8871E"/>
              </a:solidFill>
              <a:effectLst/>
            </c:spPr>
          </c:dPt>
          <c:dPt>
            <c:idx val="3"/>
            <c:bubble3D val="0"/>
            <c:spPr>
              <a:solidFill>
                <a:srgbClr val="B8650F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Weather Severity</c:v>
                </c:pt>
                <c:pt idx="1">
                  <c:v>Route Congestion</c:v>
                </c:pt>
                <c:pt idx="2">
                  <c:v>Cargo Sensitivity</c:v>
                </c:pt>
                <c:pt idx="3">
                  <c:v>Historic Delay Probability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the project name, the track (Smart Supply Chains), and the team before moving to the problem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pain point in three concrete failure modes, before showing the solution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concrete objectives, then the one-line framing on the right: moving the org from reactive to preemptive.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loop left to right — this is the core mechanic of the whole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pie chart shows how the four signals are weighted into one composite score; the right column shows what the system does at each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Layered architecture: Flask/Jinja2 presentation layer, core services in the middle, SQLAlchemy data layer, SQLite database, all packaged in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 — Admin, Manager, Field Operator — each with a distinct set of use cases inside the system boundary.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components map directly to the six service/blueprint modules in the codebase.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stack confirmed for the rebuild: Flask + SQLite + Docker, kept deliberately simple and self-contained for an academic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milestones complete — documentation, environment/Docker, and authentication. Next: the risk engine and the three role-based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headline reframing — reactive to preemptive — backed by four quick stats that summarise the system's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 from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D5AA8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E8871E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SUPPLY CHAINS  ·  MCA SEMESTER 3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ChainShield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Logistics &amp; Dynamic Supply Chain Optimization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59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 A. Visani (D51)  ·  Diya Shah (D36)  ·  Shruti Somani (D42)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 Prof. Dhaval Shah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 Institute of Computer Application  |  LJK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Disruptions are found only after it's too late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9971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997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20939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monitoring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47802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learn about a delay only after a customer reports a missed delivery.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85419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541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845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signals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403250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congestion, cargo risk, and delay history are never fused into one score.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408676"/>
            <a:ext cx="566928" cy="566928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4086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52029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rerouting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558698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disruption is found, the reroute decision relies on guesswork, not data.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disruptions before they cascade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76272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299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score every active shipment's disruption risk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7797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 disruptions the instant a risk threshold is crossed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675888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52958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propose ranked, optimised route alternatives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425696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27939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managers, then field operators, the moment a decision is made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5175504"/>
            <a:ext cx="146304" cy="14630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5029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role — admin, manager, operator — its own focused dashboard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281160" y="2103120"/>
            <a:ext cx="2331720" cy="3566160"/>
          </a:xfrm>
          <a:prstGeom prst="roundRect">
            <a:avLst>
              <a:gd name="adj" fmla="val 3922"/>
            </a:avLst>
          </a:prstGeom>
          <a:solidFill>
            <a:srgbClr val="1F2A63"/>
          </a:solidFill>
          <a:ln/>
        </p:spPr>
      </p:sp>
      <p:sp>
        <p:nvSpPr>
          <p:cNvPr id="15" name="Text 13"/>
          <p:cNvSpPr/>
          <p:nvPr/>
        </p:nvSpPr>
        <p:spPr>
          <a:xfrm>
            <a:off x="92811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281160" y="2743200"/>
            <a:ext cx="2331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Preemptive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ChainShield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shipment is scored on a recurring interval using live weather, congestion, cargo, and history signals.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5468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11" name="Shape 9"/>
          <p:cNvSpPr/>
          <p:nvPr/>
        </p:nvSpPr>
        <p:spPr>
          <a:xfrm>
            <a:off x="436626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2" name="Text 10"/>
          <p:cNvSpPr/>
          <p:nvPr/>
        </p:nvSpPr>
        <p:spPr>
          <a:xfrm>
            <a:off x="43662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a risk threshold auto-creates a disruption and alerts the manager — no manual checking required.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8932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200900" y="2468880"/>
            <a:ext cx="640080" cy="64008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8" name="Text 16"/>
          <p:cNvSpPr/>
          <p:nvPr/>
        </p:nvSpPr>
        <p:spPr>
          <a:xfrm>
            <a:off x="72009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ranked alternatives (reroute vs. hold) are generated with time, cost, and residual-risk trade-offs.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2396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5256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7F8F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35540" y="2468880"/>
            <a:ext cx="640080" cy="6400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55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89720" y="32918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F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370332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manager's choice is pushed instantly to the assigned field operator's dashboard.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transparent, weighted risk score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965960"/>
          <a:ext cx="5212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8076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THRESHOLDS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80760" y="2057400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0" y="2203704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D64545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203704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CRITICAL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223760" y="24597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auto-created, solutions generated, manager alerted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80760" y="3044952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12" name="Shape 9"/>
          <p:cNvSpPr/>
          <p:nvPr/>
        </p:nvSpPr>
        <p:spPr>
          <a:xfrm>
            <a:off x="6217920" y="3191256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E8871E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3191256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0" y="31363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223760" y="344728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flagged, ranked solutions provided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80760" y="4032504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17" name="Shape 14"/>
          <p:cNvSpPr/>
          <p:nvPr/>
        </p:nvSpPr>
        <p:spPr>
          <a:xfrm>
            <a:off x="6217920" y="4178808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3D5AA8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417880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23760" y="41239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223760" y="4434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marked at-risk and monitored closely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80760" y="5020056"/>
            <a:ext cx="5577840" cy="841248"/>
          </a:xfrm>
          <a:prstGeom prst="roundRect">
            <a:avLst>
              <a:gd name="adj" fmla="val 6522"/>
            </a:avLst>
          </a:prstGeom>
          <a:solidFill>
            <a:srgbClr val="F7F8FC"/>
          </a:solidFill>
          <a:ln/>
        </p:spPr>
      </p:sp>
      <p:sp>
        <p:nvSpPr>
          <p:cNvPr id="22" name="Shape 19"/>
          <p:cNvSpPr/>
          <p:nvPr/>
        </p:nvSpPr>
        <p:spPr>
          <a:xfrm>
            <a:off x="6217920" y="516636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2E9E5B"/>
          </a:solidFill>
          <a:ln/>
        </p:spPr>
      </p:sp>
      <p:sp>
        <p:nvSpPr>
          <p:cNvPr id="23" name="Text 20"/>
          <p:cNvSpPr/>
          <p:nvPr/>
        </p:nvSpPr>
        <p:spPr>
          <a:xfrm>
            <a:off x="6217920" y="516636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223760" y="511149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223760" y="54223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— risk score updated silently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31720" y="1737360"/>
            <a:ext cx="7498080" cy="4709160"/>
          </a:xfrm>
          <a:prstGeom prst="roundRect">
            <a:avLst>
              <a:gd name="adj" fmla="val 1553"/>
            </a:avLst>
          </a:prstGeom>
          <a:solidFill>
            <a:srgbClr val="F7F8FC"/>
          </a:solidFill>
          <a:ln/>
        </p:spPr>
      </p:sp>
      <p:pic>
        <p:nvPicPr>
          <p:cNvPr id="5" name="Image 0" descr="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14600" y="1874520"/>
            <a:ext cx="7132320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14600" y="1691640"/>
            <a:ext cx="7132320" cy="4800600"/>
          </a:xfrm>
          <a:prstGeom prst="roundRect">
            <a:avLst>
              <a:gd name="adj" fmla="val 1524"/>
            </a:avLst>
          </a:prstGeom>
          <a:solidFill>
            <a:srgbClr val="F7F8FC"/>
          </a:solidFill>
          <a:ln/>
        </p:spPr>
      </p:sp>
      <p:pic>
        <p:nvPicPr>
          <p:cNvPr id="5" name="Image 0" descr="usecas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97480" y="1828800"/>
            <a:ext cx="676656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ChainShield does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shipment on a recurring schedule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1208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Solver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reroute / hold alternatives with cost &amp; time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219456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06840" y="2167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&amp; Chat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alerts and direct messaging between users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hubs, cargo types, and an activity audit log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Q&amp;A over the supply chain (Gemini)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1148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343400"/>
            <a:ext cx="502920" cy="502920"/>
          </a:xfrm>
          <a:prstGeom prst="ellipse">
            <a:avLst/>
          </a:prstGeom>
          <a:solidFill>
            <a:srgbClr val="1F2A63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006840" y="43159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4983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 of shipment positions &amp; disruption zones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Flask-Login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Templates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INFRA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965960"/>
            <a:ext cx="2697480" cy="4160520"/>
          </a:xfrm>
          <a:prstGeom prst="roundRect">
            <a:avLst>
              <a:gd name="adj" fmla="val 2712"/>
            </a:avLst>
          </a:prstGeom>
          <a:solidFill>
            <a:srgbClr val="26326E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21671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235440" y="260604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OpenWeatherMap API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&amp;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204825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System Design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92640" y="208483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706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 &amp; Docker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92640" y="2743200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19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3649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(Login / Register)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92640" y="3401568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4F5E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365760" cy="365760"/>
          </a:xfrm>
          <a:prstGeom prst="ellipse">
            <a:avLst/>
          </a:prstGeom>
          <a:solidFill>
            <a:srgbClr val="C7CCD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 &amp; Disruption Detection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4059936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EF0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736592"/>
            <a:ext cx="365760" cy="365760"/>
          </a:xfrm>
          <a:prstGeom prst="ellipse">
            <a:avLst/>
          </a:prstGeom>
          <a:solidFill>
            <a:srgbClr val="C7CCD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365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6817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(Manager / Admin / Operator)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92640" y="4718304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EF0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C7CCD9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534009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Final Submission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92640" y="5376672"/>
            <a:ext cx="1920240" cy="384048"/>
          </a:xfrm>
          <a:prstGeom prst="roundRect">
            <a:avLst>
              <a:gd name="adj" fmla="val 35714"/>
            </a:avLst>
          </a:prstGeom>
          <a:solidFill>
            <a:srgbClr val="EEF0F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D5AA8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tracking to preemptive logistics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turns scattered weather, congestion, cargo, and history signals into one transparent risk score per shipment — and pairs every detected disruption with a ranked, actionable route solution, so delays are caught before they cascade.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factors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0" name="Text 8"/>
          <p:cNvSpPr/>
          <p:nvPr/>
        </p:nvSpPr>
        <p:spPr>
          <a:xfrm>
            <a:off x="315468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15468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76072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66760" y="40233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26326E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418795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60s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366760" y="4937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scan interval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ChainShield Transportation System  |  MCA Semester 3  |  Group 59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6868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2286000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Bhavik A. Visani  ·  Diya Shah  ·  Shruti Somani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 59  |  Guided by Prof. Dhaval Shah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2026-08-25T03:07:52Z</dcterms:created>
  <dcterms:modified xsi:type="dcterms:W3CDTF">2026-08-25T03:07:52Z</dcterms:modified>
</cp:coreProperties>
</file>