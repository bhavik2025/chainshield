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6" title="Frame 9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342908" y="617235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Team Details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55373" y="2306833"/>
            <a:ext cx="8298387" cy="6428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255373" y="2306833"/>
            <a:ext cx="82298" cy="642885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95409" y="2389131"/>
            <a:ext cx="788689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Calibri"/>
              </a:rPr>
              <a:t>TEAM NAME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5409" y="2594876"/>
            <a:ext cx="7886897" cy="243143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r>
              <a:rPr lang="en-IN" b="1" dirty="0"/>
              <a:t>skill2win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255373" y="3004687"/>
            <a:ext cx="8298387" cy="6428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55373" y="3004687"/>
            <a:ext cx="82298" cy="64288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95409" y="3086985"/>
            <a:ext cx="788689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TEAM LEADER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95409" y="3292730"/>
            <a:ext cx="7886897" cy="27392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Calibri"/>
              </a:rPr>
              <a:t>Bhavik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255373" y="4400395"/>
            <a:ext cx="8298387" cy="6428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55373" y="4400395"/>
            <a:ext cx="82298" cy="64288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95409" y="4482693"/>
            <a:ext cx="788689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PROBLEM STATEMENT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5409" y="4688438"/>
            <a:ext cx="7886897" cy="27392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600" b="1" dirty="0">
                <a:solidFill>
                  <a:srgbClr val="0F172A"/>
                </a:solidFill>
                <a:latin typeface="Calibri"/>
              </a:rPr>
              <a:t>Resilient Logistics &amp; Dynamic Supply Chain Optimization</a:t>
            </a:r>
            <a:r>
              <a:rPr lang="en-US" sz="1600" b="1" dirty="0">
                <a:solidFill>
                  <a:srgbClr val="0F172A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0F172A"/>
                </a:solidFill>
                <a:latin typeface="Calibri"/>
              </a:rPr>
              <a:t>— Smart Supply Chains Track</a:t>
            </a:r>
          </a:p>
        </p:txBody>
      </p:sp>
      <p:sp>
        <p:nvSpPr>
          <p:cNvPr id="2" name="Rounded Rectangle 115">
            <a:extLst>
              <a:ext uri="{FF2B5EF4-FFF2-40B4-BE49-F238E27FC236}">
                <a16:creationId xmlns:a16="http://schemas.microsoft.com/office/drawing/2014/main" id="{F8EAB5D9-68C0-0A7F-E896-95DD1F49A35D}"/>
              </a:ext>
            </a:extLst>
          </p:cNvPr>
          <p:cNvSpPr/>
          <p:nvPr/>
        </p:nvSpPr>
        <p:spPr>
          <a:xfrm>
            <a:off x="255373" y="3702541"/>
            <a:ext cx="8298387" cy="6428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4D869F-9FDB-DBDE-C600-D65E80B26E6A}"/>
              </a:ext>
            </a:extLst>
          </p:cNvPr>
          <p:cNvSpPr/>
          <p:nvPr/>
        </p:nvSpPr>
        <p:spPr>
          <a:xfrm>
            <a:off x="255373" y="3702541"/>
            <a:ext cx="82298" cy="6428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69880-0CC6-60EC-24AF-E2A580E75D26}"/>
              </a:ext>
            </a:extLst>
          </p:cNvPr>
          <p:cNvSpPr txBox="1"/>
          <p:nvPr/>
        </p:nvSpPr>
        <p:spPr>
          <a:xfrm>
            <a:off x="495409" y="3784839"/>
            <a:ext cx="7886897" cy="19697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 dirty="0">
                <a:solidFill>
                  <a:srgbClr val="FF0000"/>
                </a:solidFill>
                <a:latin typeface="Calibri"/>
              </a:rPr>
              <a:t>TEAM </a:t>
            </a:r>
            <a:r>
              <a:rPr lang="en-US" sz="1100" b="1" dirty="0">
                <a:solidFill>
                  <a:srgbClr val="FF0000"/>
                </a:solidFill>
                <a:latin typeface="Calibri"/>
              </a:rPr>
              <a:t>MEMBER</a:t>
            </a:r>
            <a:endParaRPr sz="11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9251E-88C8-E6BA-1B9E-3BB28B841DDE}"/>
              </a:ext>
            </a:extLst>
          </p:cNvPr>
          <p:cNvSpPr txBox="1"/>
          <p:nvPr/>
        </p:nvSpPr>
        <p:spPr>
          <a:xfrm>
            <a:off x="495409" y="3990584"/>
            <a:ext cx="7886897" cy="27392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lang="en-US" sz="1600" b="1" dirty="0">
                <a:solidFill>
                  <a:srgbClr val="0F172A"/>
                </a:solidFill>
                <a:latin typeface="Calibri"/>
              </a:rPr>
              <a:t>Harshad</a:t>
            </a:r>
            <a:endParaRPr sz="1600" b="1" dirty="0">
              <a:solidFill>
                <a:srgbClr val="0F17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394344" y="656817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 dirty="0">
                <a:solidFill>
                  <a:srgbClr val="0F172A"/>
                </a:solidFill>
                <a:latin typeface="Calibri"/>
              </a:rPr>
              <a:t>Brief about our solution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42908" y="1308343"/>
            <a:ext cx="8435550" cy="685817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82944" y="1376925"/>
            <a:ext cx="7886897" cy="30861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2200" b="1" dirty="0" err="1">
                <a:solidFill>
                  <a:srgbClr val="1A73E8"/>
                </a:solidFill>
                <a:latin typeface="Calibri"/>
              </a:rPr>
              <a:t>ChainShield</a:t>
            </a:r>
            <a:endParaRPr sz="2200" b="1" dirty="0">
              <a:solidFill>
                <a:srgbClr val="1A73E8"/>
              </a:solidFill>
              <a:latin typeface="Calibri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582944" y="1685543"/>
            <a:ext cx="7886897" cy="30861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Smart Supply Chain Disruption Detection &amp; Dynamic Route Optimization Platform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42908" y="2199905"/>
            <a:ext cx="8435550" cy="2400360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dirty="0" err="1">
                <a:solidFill>
                  <a:srgbClr val="475569"/>
                </a:solidFill>
                <a:latin typeface="Calibri"/>
              </a:rPr>
              <a:t>ChainShield</a:t>
            </a:r>
            <a:r>
              <a:rPr sz="1350" b="0" dirty="0">
                <a:solidFill>
                  <a:srgbClr val="475569"/>
                </a:solidFill>
                <a:latin typeface="Calibri"/>
              </a:rPr>
              <a:t> is an AI-powered, multi-role logistics command center that continuously analyses millions of concurrent shipments across sea, air, road and rail networks. A four-factor risk engine scores every shipment in real time using live weather, congestion hotspots, cargo sensitivity and historical delay probability. When risk crosses a threshold, the system instantly flags the disruption, alerts the right role (Admin / Manager / Field Operator) via toast and modal notifications, and recommends two to three </a:t>
            </a:r>
            <a:r>
              <a:rPr sz="1350" b="0" dirty="0" err="1">
                <a:solidFill>
                  <a:srgbClr val="475569"/>
                </a:solidFill>
                <a:latin typeface="Calibri"/>
              </a:rPr>
              <a:t>optimised</a:t>
            </a:r>
            <a:r>
              <a:rPr sz="1350" b="0" dirty="0">
                <a:solidFill>
                  <a:srgbClr val="475569"/>
                </a:solidFill>
                <a:latin typeface="Calibri"/>
              </a:rPr>
              <a:t> alternate routes ranked by ETA impact, cost and residual risk — preventing </a:t>
            </a:r>
            <a:r>
              <a:rPr sz="1350" b="0" dirty="0" err="1">
                <a:solidFill>
                  <a:srgbClr val="475569"/>
                </a:solidFill>
                <a:latin typeface="Calibri"/>
              </a:rPr>
              <a:t>localised</a:t>
            </a:r>
            <a:r>
              <a:rPr sz="1350" b="0" dirty="0">
                <a:solidFill>
                  <a:srgbClr val="475569"/>
                </a:solidFill>
                <a:latin typeface="Calibri"/>
              </a:rPr>
              <a:t> bottlenecks from cascading into industry-wide delays.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42908" y="4322321"/>
            <a:ext cx="2777559" cy="219461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9" tIns="13716" rIns="41149" bIns="1371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Predict, don't react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3223340" y="4322321"/>
            <a:ext cx="2777559" cy="219461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9" tIns="13716" rIns="41149" bIns="1371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Multi-modal: Sea • Air • Road • Rail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103772" y="4322321"/>
            <a:ext cx="2777559" cy="219461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9" tIns="13716" rIns="41149" bIns="1371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Powered by Google Gemini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Opportunities — How we stand apart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42908" y="1131598"/>
            <a:ext cx="8435550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2908" y="1131598"/>
            <a:ext cx="96014" cy="106301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82944" y="1213896"/>
            <a:ext cx="7955478" cy="24003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Calibri"/>
              </a:rPr>
              <a:t>HOW IT'S DIFFERENT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2944" y="1460790"/>
            <a:ext cx="7955478" cy="7201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Most logistics tools are reactive — they flag delays after they happen. ChainShield is predictive: every shipment carries a live 0–100 risk score so disruptions are spotted before delivery timelines are compromised. Modal-agnostic — sea, air, road and rail live on one map, while competitors silo each mode.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42908" y="2297487"/>
            <a:ext cx="8435550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42908" y="2297487"/>
            <a:ext cx="96014" cy="1063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582944" y="2379785"/>
            <a:ext cx="7955478" cy="24003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2944" y="2626679"/>
            <a:ext cx="7955478" cy="7201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A 4-factor weighted risk engine (Weather 40% · Congestion 25% · Cargo Sensitivity 20% · Historic Delay 15%) drives instant disruption detection. The route optimiser then generates 2–3 ranked alternatives with ETA impact and cost delta — so managers approve a re-route in seconds, not hours.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42908" y="3463376"/>
            <a:ext cx="8435550" cy="1279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342908" y="3463375"/>
            <a:ext cx="96014" cy="127960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582944" y="3545674"/>
            <a:ext cx="7955478" cy="24003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UNIQUE SELLING POINTS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82944" y="3792568"/>
            <a:ext cx="7955478" cy="7201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dirty="0">
                <a:solidFill>
                  <a:srgbClr val="475569"/>
                </a:solidFill>
                <a:latin typeface="Calibri"/>
              </a:rPr>
              <a:t>• Three role-specific dashboards (Admin / Manager / Field Operator)
• Gemini-powered chat assistant explains alerts in plain language
• Offline-first: works with mock data when network is down
• Lightweight stack — deploys on Cloud Run + </a:t>
            </a:r>
            <a:r>
              <a:rPr sz="1150" b="0" dirty="0" err="1">
                <a:solidFill>
                  <a:srgbClr val="475569"/>
                </a:solidFill>
                <a:latin typeface="Calibri"/>
              </a:rPr>
              <a:t>Vercel</a:t>
            </a:r>
            <a:r>
              <a:rPr sz="1150" b="0" dirty="0">
                <a:solidFill>
                  <a:srgbClr val="475569"/>
                </a:solidFill>
                <a:latin typeface="Calibri"/>
              </a:rPr>
              <a:t> for under $50/</a:t>
            </a:r>
            <a:r>
              <a:rPr sz="1150" b="0" dirty="0" err="1">
                <a:solidFill>
                  <a:srgbClr val="475569"/>
                </a:solidFill>
                <a:latin typeface="Calibri"/>
              </a:rPr>
              <a:t>mo</a:t>
            </a:r>
            <a:endParaRPr sz="1150" b="0" dirty="0">
              <a:solidFill>
                <a:srgbClr val="47556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Features offered by the solution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42908" y="1131598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466355" y="1255045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🌐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25853" y="1234470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Live Global Shipment Map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25853" y="1440216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Leaflet-powered world map with animated pulse markers for every active shipment.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629265" y="1131598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4752712" y="1255045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212210" y="1234470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Multi-Modal Tracking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12210" y="1440216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Sea, Air, Road and Rail in one unified view — no silos.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42908" y="1865422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466355" y="1988869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📊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25853" y="1968295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Predictive Risk Engine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25853" y="2174040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0–100 risk score per shipment; 4 weighted factors; updates continuously.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29265" y="1865422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4752712" y="1988869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⛅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212210" y="1968295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Real-Time Weather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212210" y="2174040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OpenWeatherMap integration flags weather-driven risks the moment they emerge.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42908" y="2599246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466355" y="2722694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🔀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25853" y="2702119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Dynamic Re-Routing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25853" y="2907864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AI generates 2–3 alternate routes ranked by risk, ETA impact, and cost delta.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29265" y="2599246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4752712" y="2722694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👥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212210" y="2702119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Multi-Role Dashboards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212210" y="2907864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Admin (global view), Manager (ops), Field Operator (mobile-first).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42908" y="3333071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466355" y="3456518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🔔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25853" y="3435943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Smart Alerts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25853" y="3641689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Toast pop-ups + persistent notification panel + modal deep-dives.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629265" y="3333071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4752712" y="3456518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📡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12210" y="3435943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Field Status Updates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212210" y="3641689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Drivers, pilots, captains push live status from the field.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42908" y="4066895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466355" y="4190342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🤖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25853" y="4169768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Gemini Chat Assistant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25853" y="4375513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Natural-language Q&amp;A on shipments, disruptions, and recommendations.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29265" y="4066895"/>
            <a:ext cx="4149193" cy="65152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4752712" y="4190342"/>
            <a:ext cx="377199" cy="377199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/>
              <a:t>📈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12210" y="4169768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KPI Command Center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212210" y="4375513"/>
            <a:ext cx="3497667" cy="342908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On-time %, at-risk count, average delay, cost-at-risk — at a glance.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Process Flow Diagram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77199" y="1337343"/>
            <a:ext cx="1618528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377199" y="1337343"/>
            <a:ext cx="1618528" cy="219461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7199" y="1351059"/>
            <a:ext cx="161852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32064" y="1625386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Data Ingest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32064" y="1988869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Shipment + weather
+ traffic + ports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999156" y="1868851"/>
            <a:ext cx="82299" cy="0"/>
          </a:xfrm>
          <a:prstGeom prst="bentConnector3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2084884" y="1337343"/>
            <a:ext cx="1618528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2084884" y="1337343"/>
            <a:ext cx="1618528" cy="219461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084884" y="1351059"/>
            <a:ext cx="161852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39749" y="1625386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Risk Engine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39749" y="1988869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4-factor weighted
scoring (0–100)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706841" y="1868851"/>
            <a:ext cx="82298" cy="0"/>
          </a:xfrm>
          <a:prstGeom prst="bentConnector3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3792568" y="1337343"/>
            <a:ext cx="1618528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792568" y="1337343"/>
            <a:ext cx="1618528" cy="219461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792568" y="1351059"/>
            <a:ext cx="161852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47434" y="1625386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Disruption
Detection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47434" y="1988869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Score ≥ 70 →
flag critical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414526" y="1868851"/>
            <a:ext cx="82298" cy="0"/>
          </a:xfrm>
          <a:prstGeom prst="bentConnector3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5500253" y="1337343"/>
            <a:ext cx="1618528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5500253" y="1337343"/>
            <a:ext cx="1618528" cy="219461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500253" y="1351059"/>
            <a:ext cx="161852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55118" y="1625386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Alert &amp;
Notify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55118" y="1988869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Toast + modal +
role routing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7122211" y="1868851"/>
            <a:ext cx="82298" cy="0"/>
          </a:xfrm>
          <a:prstGeom prst="bentConnector3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7207938" y="1337343"/>
            <a:ext cx="1618528" cy="10630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9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207938" y="1337343"/>
            <a:ext cx="1618528" cy="219461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207938" y="1351059"/>
            <a:ext cx="161852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262803" y="1625386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Re-Route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62803" y="1988869"/>
            <a:ext cx="1508797" cy="377199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2–3 ranked
alternatives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7199" y="2640396"/>
            <a:ext cx="8366969" cy="24003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200" b="1">
                <a:solidFill>
                  <a:srgbClr val="1A73E8"/>
                </a:solidFill>
                <a:latin typeface="Calibri"/>
              </a:rPr>
              <a:t>Continuous Learning Loop</a:t>
            </a:r>
          </a:p>
        </p:txBody>
      </p:sp>
      <p:sp>
        <p:nvSpPr>
          <p:cNvPr id="166" name="Left Arrow 165"/>
          <p:cNvSpPr/>
          <p:nvPr/>
        </p:nvSpPr>
        <p:spPr>
          <a:xfrm>
            <a:off x="1371634" y="2949013"/>
            <a:ext cx="6378099" cy="308617"/>
          </a:xfrm>
          <a:prstGeom prst="leftArrow">
            <a:avLst/>
          </a:prstGeom>
          <a:solidFill>
            <a:srgbClr val="EFF6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371634" y="2949013"/>
            <a:ext cx="6378099" cy="308617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100" b="0">
                <a:solidFill>
                  <a:srgbClr val="1A73E8"/>
                </a:solidFill>
                <a:latin typeface="Calibri"/>
              </a:rPr>
              <a:t>Outcome data refines risk engine weights over time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77199" y="3463376"/>
            <a:ext cx="8366969" cy="24003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Use case: Typhoon advisory near Shanghai → SHP-001 risk jumps from 38 → 82 → Manager sees alert, approves Pacific re-route → ETA preserved, cost delta logged.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TextBox 140"/>
          <p:cNvSpPr txBox="1"/>
          <p:nvPr/>
        </p:nvSpPr>
        <p:spPr>
          <a:xfrm>
            <a:off x="342907" y="681971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Wireframes / Mock Diagrams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42907" y="1391793"/>
            <a:ext cx="2880432" cy="3113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397773" y="1446658"/>
            <a:ext cx="2770701" cy="15087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438922" y="1480949"/>
            <a:ext cx="68581" cy="68581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21220" y="1480949"/>
            <a:ext cx="68581" cy="68581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603518" y="1480949"/>
            <a:ext cx="68581" cy="68581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397773" y="4052763"/>
            <a:ext cx="2770701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Manager Dashboard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7773" y="4258508"/>
            <a:ext cx="2770701" cy="137163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Map + Shipment List + KPIs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11489" y="1631829"/>
            <a:ext cx="1783124" cy="1851706"/>
          </a:xfrm>
          <a:prstGeom prst="rect">
            <a:avLst/>
          </a:prstGeom>
          <a:solidFill>
            <a:srgbClr val="E0F2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994434" y="2111901"/>
            <a:ext cx="123447" cy="123447"/>
          </a:xfrm>
          <a:prstGeom prst="ellipse">
            <a:avLst/>
          </a:prstGeom>
          <a:solidFill>
            <a:srgbClr val="DC26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337342" y="2660555"/>
            <a:ext cx="123447" cy="123447"/>
          </a:xfrm>
          <a:prstGeom prst="ellipse">
            <a:avLst/>
          </a:prstGeom>
          <a:solidFill>
            <a:srgbClr val="EA58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885996" y="1906156"/>
            <a:ext cx="123447" cy="123447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788688" y="3003463"/>
            <a:ext cx="123447" cy="123447"/>
          </a:xfrm>
          <a:prstGeom prst="ellipse">
            <a:avLst/>
          </a:prstGeom>
          <a:solidFill>
            <a:srgbClr val="1A73E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2297486" y="1631829"/>
            <a:ext cx="822980" cy="3771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2297486" y="2084468"/>
            <a:ext cx="822980" cy="3771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2297486" y="2537107"/>
            <a:ext cx="822980" cy="3771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297486" y="2989747"/>
            <a:ext cx="822980" cy="37719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411489" y="3586408"/>
            <a:ext cx="582944" cy="342908"/>
          </a:xfrm>
          <a:prstGeom prst="roundRect">
            <a:avLst>
              <a:gd name="adj" fmla="val 1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1076732" y="3586408"/>
            <a:ext cx="582944" cy="342908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1741974" y="3586408"/>
            <a:ext cx="582944" cy="342908"/>
          </a:xfrm>
          <a:prstGeom prst="roundRect">
            <a:avLst>
              <a:gd name="adj" fmla="val 1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ounded Rectangle 160"/>
          <p:cNvSpPr/>
          <p:nvPr/>
        </p:nvSpPr>
        <p:spPr>
          <a:xfrm>
            <a:off x="3531957" y="1391793"/>
            <a:ext cx="2126033" cy="3113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3586822" y="1446658"/>
            <a:ext cx="2016302" cy="15087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3627971" y="1480949"/>
            <a:ext cx="68581" cy="68581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3710269" y="1480949"/>
            <a:ext cx="68581" cy="68581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3792567" y="1480949"/>
            <a:ext cx="68581" cy="68581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586822" y="4052763"/>
            <a:ext cx="2016302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Field Operator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586822" y="4258508"/>
            <a:ext cx="2016302" cy="137163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Calibri"/>
              </a:rPr>
              <a:t>Mobile-first status updates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909156" y="1631829"/>
            <a:ext cx="1371634" cy="240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909156" y="1631829"/>
            <a:ext cx="1371634" cy="27432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3909156" y="1631829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SHP-001 · Sea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012029" y="2009028"/>
            <a:ext cx="1165889" cy="308617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4012029" y="2386228"/>
            <a:ext cx="1165889" cy="308617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ounded Rectangle 172"/>
          <p:cNvSpPr/>
          <p:nvPr/>
        </p:nvSpPr>
        <p:spPr>
          <a:xfrm>
            <a:off x="4012029" y="2763427"/>
            <a:ext cx="1165889" cy="308617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4012029" y="3552117"/>
            <a:ext cx="1165889" cy="342908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012029" y="3552117"/>
            <a:ext cx="1165889" cy="342908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Send Status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966608" y="1391793"/>
            <a:ext cx="2811850" cy="3113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021473" y="1446658"/>
            <a:ext cx="2702119" cy="15087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6062622" y="1480949"/>
            <a:ext cx="68581" cy="68581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6144920" y="1480949"/>
            <a:ext cx="68581" cy="68581"/>
          </a:xfrm>
          <a:prstGeom prst="ellipse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227218" y="1480949"/>
            <a:ext cx="68581" cy="68581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021473" y="3943032"/>
            <a:ext cx="2702119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200" b="1" dirty="0">
                <a:solidFill>
                  <a:srgbClr val="0F172A"/>
                </a:solidFill>
                <a:latin typeface="Calibri"/>
              </a:rPr>
              <a:t>Re-Route Modal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021473" y="4217232"/>
            <a:ext cx="2702119" cy="137163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950" b="0" dirty="0">
                <a:solidFill>
                  <a:srgbClr val="64748B"/>
                </a:solidFill>
                <a:latin typeface="Calibri"/>
              </a:rPr>
              <a:t>AI-ranked alternates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03771" y="1666120"/>
            <a:ext cx="2537523" cy="24003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Disruption: Typhoon · ETA +18h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6103771" y="2009028"/>
            <a:ext cx="2537523" cy="4800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6206644" y="2043319"/>
            <a:ext cx="2400360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Option A · Pacific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206644" y="2249064"/>
            <a:ext cx="2400360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+ 6h | -$3.2k risk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103771" y="2591973"/>
            <a:ext cx="2537523" cy="4800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206644" y="2626264"/>
            <a:ext cx="2400360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Option B · Suez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06644" y="2832009"/>
            <a:ext cx="2400360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+12h | -$1.1k risk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103771" y="3174917"/>
            <a:ext cx="2537523" cy="4800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206644" y="3209208"/>
            <a:ext cx="2400360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Option C · Hold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206644" y="3414953"/>
            <a:ext cx="2400360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+24h | safest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Architecture Diagram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08617" y="1131598"/>
            <a:ext cx="2091742" cy="3017595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32064" y="1200180"/>
            <a:ext cx="1844848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CLIENTS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45781" y="1474506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445781" y="1474506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Admin Web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45781" y="1817415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45781" y="1817415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Manager Web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5781" y="2160324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45781" y="2209704"/>
            <a:ext cx="1817415" cy="18928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 dirty="0">
                <a:solidFill>
                  <a:srgbClr val="0F172A"/>
                </a:solidFill>
                <a:latin typeface="Calibri"/>
              </a:rPr>
              <a:t>Field </a:t>
            </a:r>
            <a:r>
              <a:rPr lang="en-US" sz="1050" dirty="0">
                <a:solidFill>
                  <a:srgbClr val="0F172A"/>
                </a:solidFill>
                <a:latin typeface="Calibri"/>
              </a:rPr>
              <a:t>W</a:t>
            </a:r>
            <a:r>
              <a:rPr lang="en-US" sz="1050" b="0" dirty="0">
                <a:solidFill>
                  <a:srgbClr val="0F172A"/>
                </a:solidFill>
                <a:latin typeface="Calibri"/>
              </a:rPr>
              <a:t>eb/</a:t>
            </a:r>
            <a:r>
              <a:rPr sz="1050" b="0" dirty="0">
                <a:solidFill>
                  <a:srgbClr val="0F172A"/>
                </a:solidFill>
                <a:latin typeface="Calibri"/>
              </a:rPr>
              <a:t>Mobile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503232" y="1131598"/>
            <a:ext cx="2091742" cy="3017595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626679" y="1200180"/>
            <a:ext cx="1844848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FRONTEND  (Vercel)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640396" y="1474506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640396" y="1474506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React 19 + Vite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640396" y="1817415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640396" y="1817415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Leaflet Map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2640396" y="2160324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640396" y="2160324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lucide-react UI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640396" y="2503232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2640396" y="2503232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Auth + Role Routing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97847" y="1131598"/>
            <a:ext cx="2091742" cy="3017595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821294" y="1200180"/>
            <a:ext cx="1844848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BACKEND  (Cloud Run)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835010" y="1474506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4835010" y="1474506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FastAPI + Uvicorn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835010" y="1817415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4835010" y="1817415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Risk Engine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835010" y="2160324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835010" y="2160324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Re-Route Optimiser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835010" y="2503232"/>
            <a:ext cx="1817415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835010" y="2503232"/>
            <a:ext cx="1817415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REST API + CORS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892462" y="1131598"/>
            <a:ext cx="1885997" cy="301759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7015909" y="1200180"/>
            <a:ext cx="1639102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AI &amp; DATA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029625" y="1474506"/>
            <a:ext cx="1611670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029625" y="1474506"/>
            <a:ext cx="1611670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Gemini API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029625" y="1817415"/>
            <a:ext cx="1611670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7029625" y="1817415"/>
            <a:ext cx="1611670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OpenWeather API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7029625" y="2160324"/>
            <a:ext cx="1611670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7029625" y="2160324"/>
            <a:ext cx="1611670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Firestore DB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7029625" y="2503232"/>
            <a:ext cx="1611670" cy="28804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7029625" y="2503232"/>
            <a:ext cx="1611670" cy="288043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50" b="0">
                <a:solidFill>
                  <a:srgbClr val="0F172A"/>
                </a:solidFill>
                <a:latin typeface="Calibri"/>
              </a:rPr>
              <a:t>Auth (Firebase)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434650" y="2640396"/>
            <a:ext cx="54866" cy="0"/>
          </a:xfrm>
          <a:prstGeom prst="bentConnector3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4629265" y="2640396"/>
            <a:ext cx="54866" cy="0"/>
          </a:xfrm>
          <a:prstGeom prst="bentConnector3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823880" y="2640396"/>
            <a:ext cx="54865" cy="0"/>
          </a:xfrm>
          <a:prstGeom prst="bentConnector3">
            <a:avLst/>
          </a:prstGeom>
          <a:ln w="317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308617" y="4252066"/>
            <a:ext cx="8435550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Deployment: GitHub → CI → Vercel (frontend) + Google Cloud Run (backend) · Firebase Auth/Firestore · all logs to Cloud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Technologies used in the solution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08617" y="1131598"/>
            <a:ext cx="2811850" cy="1440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308617" y="1131598"/>
            <a:ext cx="2811850" cy="24689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11490" y="1145314"/>
            <a:ext cx="2606105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11490" y="147450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11490" y="147450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React 19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748833" y="147450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1748833" y="147450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Vite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11490" y="174883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411490" y="174883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Leaflet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748833" y="174883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748833" y="174883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lucide-react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11490" y="2023160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11490" y="2023160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React Router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748833" y="2023160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748833" y="2023160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Tailwind-style CSS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209624" y="1131598"/>
            <a:ext cx="2811850" cy="1440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3209624" y="1131598"/>
            <a:ext cx="2811850" cy="24689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312496" y="1145314"/>
            <a:ext cx="2606105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312496" y="147450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312496" y="147450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Python 3.11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649840" y="147450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649840" y="147450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FastAPI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3312496" y="174883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3312496" y="174883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Uvicorn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4649840" y="174883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4649840" y="174883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Pydantic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312496" y="2023160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3312496" y="2023160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REST + CORS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6110630" y="1131598"/>
            <a:ext cx="2811850" cy="1440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6110630" y="1131598"/>
            <a:ext cx="2811850" cy="24689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6213503" y="1145314"/>
            <a:ext cx="2606105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AI / ML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213503" y="147450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6213503" y="147450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Google Gemini API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550846" y="147450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7550846" y="147450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Custom Risk Engine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213503" y="174883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213503" y="174883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Weighted scoring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50846" y="174883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550846" y="174883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Heuristic fallback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308617" y="2708977"/>
            <a:ext cx="2811850" cy="1440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308617" y="2708977"/>
            <a:ext cx="2811850" cy="24689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411490" y="2722694"/>
            <a:ext cx="2606105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CLOUD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411490" y="305188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411490" y="305188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Calibri"/>
              </a:rPr>
              <a:t>Google Cloud Run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748833" y="305188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748833" y="305188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Firebase Auth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11490" y="332621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411490" y="332621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 dirty="0" err="1">
                <a:solidFill>
                  <a:srgbClr val="0F172A"/>
                </a:solidFill>
                <a:latin typeface="Calibri"/>
              </a:rPr>
              <a:t>Firestore</a:t>
            </a:r>
            <a:r>
              <a:rPr sz="1000" b="0" dirty="0">
                <a:solidFill>
                  <a:srgbClr val="0F172A"/>
                </a:solidFill>
                <a:latin typeface="Calibri"/>
              </a:rPr>
              <a:t> DB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748833" y="332621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1748833" y="332621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Vercel (frontend)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11490" y="3600540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11490" y="3600540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 dirty="0">
                <a:solidFill>
                  <a:srgbClr val="0F172A"/>
                </a:solidFill>
                <a:latin typeface="Calibri"/>
              </a:rPr>
              <a:t>Cloud Logging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209624" y="2708977"/>
            <a:ext cx="2811850" cy="1440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3209624" y="2708977"/>
            <a:ext cx="2811850" cy="246894"/>
          </a:xfrm>
          <a:prstGeom prst="rect">
            <a:avLst/>
          </a:prstGeom>
          <a:solidFill>
            <a:srgbClr val="F9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3312496" y="2722694"/>
            <a:ext cx="2606105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EXTERNAL APIs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3312496" y="305188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3312496" y="305188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OpenWeatherMap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4649840" y="305188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4649840" y="305188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OpenStreetMap tiles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312496" y="332621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3312496" y="332621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Geocoding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110630" y="2708977"/>
            <a:ext cx="2811850" cy="1440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6110630" y="2708977"/>
            <a:ext cx="2811850" cy="24689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6213503" y="2722694"/>
            <a:ext cx="2606105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TOOLING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6213503" y="305188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213503" y="305188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Git / GitHub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7550846" y="3051886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550846" y="3051886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npm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213503" y="332621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6213503" y="332621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ESLint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550846" y="3326213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7550846" y="3326213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Postman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6213503" y="3600540"/>
            <a:ext cx="1268761" cy="219461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6213503" y="3600540"/>
            <a:ext cx="1268761" cy="219461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Figma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Estimated implementation cost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42908" y="1131598"/>
            <a:ext cx="3771994" cy="1097307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80072" y="1200180"/>
            <a:ext cx="3497667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Calibri"/>
              </a:rPr>
              <a:t>MVP MONTHLY OPERATING COST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80072" y="1440216"/>
            <a:ext cx="3497667" cy="58294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4200" b="1">
                <a:solidFill>
                  <a:srgbClr val="1A73E8"/>
                </a:solidFill>
                <a:latin typeface="Calibri"/>
              </a:rPr>
              <a:t>≈  $35 / month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0072" y="2023160"/>
            <a:ext cx="3497667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All Google Cloud free-tier eligible during pilot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320648" y="1131598"/>
            <a:ext cx="4457811" cy="31204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423520" y="1220754"/>
            <a:ext cx="4252066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Cost Breakdown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423520" y="1508797"/>
            <a:ext cx="4252066" cy="30861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492102" y="1529372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Google Cloud Run (backend)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35370" y="1529372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$0–25 / mo  (free tier)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423520" y="1851706"/>
            <a:ext cx="4252066" cy="3086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4492102" y="1872280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Firebase Auth + Firestore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235370" y="1872280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$0  (Spark plan)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23520" y="2194614"/>
            <a:ext cx="4252066" cy="30861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492102" y="2215189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Vercel hosting (frontend)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235370" y="2215189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$0  (hobby tier)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423520" y="2537523"/>
            <a:ext cx="4252066" cy="3086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492102" y="2558097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Gemini API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235370" y="2558097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$0–10 / mo (free quota)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423520" y="2880432"/>
            <a:ext cx="4252066" cy="30861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4492102" y="2901006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OpenWeatherMap API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235370" y="2901006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$0  (free 1k calls/day)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423520" y="3223340"/>
            <a:ext cx="4252066" cy="3086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492102" y="3243915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Domain + SSL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235370" y="3243915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Calibri"/>
              </a:rPr>
              <a:t>≈ $1 / mo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423520" y="3566249"/>
            <a:ext cx="4252066" cy="30861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492102" y="3586823"/>
            <a:ext cx="274326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Total (pilot scale)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235370" y="3586823"/>
            <a:ext cx="1371634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r"/>
            <a:r>
              <a:rPr sz="1100" b="1">
                <a:solidFill>
                  <a:srgbClr val="1A73E8"/>
                </a:solidFill>
                <a:latin typeface="Calibri"/>
              </a:rPr>
              <a:t>≈ $30–40 / mo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342908" y="2331778"/>
            <a:ext cx="3771994" cy="8915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0072" y="2400360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DEV TIME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72" y="2640396"/>
            <a:ext cx="3497667" cy="58294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4 weeks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783124" y="2640396"/>
            <a:ext cx="2194614" cy="58294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(2 engineers,
weekend sprint)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42908" y="3326213"/>
            <a:ext cx="3771994" cy="89156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480072" y="3394794"/>
            <a:ext cx="3497667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PRODUCTION SCALE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0072" y="3634830"/>
            <a:ext cx="3497667" cy="58294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$2-5 / shipment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Snapshots of the MVP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42908" y="1063016"/>
            <a:ext cx="4149193" cy="15773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445781" y="1165889"/>
            <a:ext cx="3943448" cy="99443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445781" y="1594524"/>
            <a:ext cx="394344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[ Insert screenshot ]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45781" y="2215189"/>
            <a:ext cx="3943448" cy="3429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445781" y="2263196"/>
            <a:ext cx="394344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Login Screen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45781" y="2455225"/>
            <a:ext cx="3943448" cy="17145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Auth + role selection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629265" y="1063016"/>
            <a:ext cx="4149193" cy="15773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4732138" y="1165889"/>
            <a:ext cx="3943448" cy="99443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4732138" y="1594524"/>
            <a:ext cx="394344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[ Insert screenshot ]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732138" y="2215189"/>
            <a:ext cx="3943448" cy="3429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4732138" y="2263196"/>
            <a:ext cx="394344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Manager Dashboard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732138" y="2455225"/>
            <a:ext cx="3943448" cy="17145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Map • shipments • KPIs • alerts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42908" y="2777559"/>
            <a:ext cx="4149193" cy="15773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445781" y="2880432"/>
            <a:ext cx="3943448" cy="99443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445781" y="3309067"/>
            <a:ext cx="394344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[ Insert screenshot ]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45781" y="3929732"/>
            <a:ext cx="3943448" cy="3429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45781" y="3977739"/>
            <a:ext cx="394344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Disruption Alert Modal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45781" y="4169768"/>
            <a:ext cx="3943448" cy="17145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Risk score + re-route options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629265" y="2777559"/>
            <a:ext cx="4149193" cy="15773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4732138" y="2880432"/>
            <a:ext cx="3943448" cy="99443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4732138" y="3309067"/>
            <a:ext cx="3943448" cy="274326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[ Insert screenshot ]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732138" y="3929732"/>
            <a:ext cx="3943448" cy="3429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732138" y="3977739"/>
            <a:ext cx="3943448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Field Operator (mobile)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732138" y="4169768"/>
            <a:ext cx="3943448" cy="171454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Live status updates from field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42908" y="4492102"/>
            <a:ext cx="8435550" cy="205745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Calibri"/>
              </a:rPr>
              <a:t>Live demo URL is on the next slide (Project Links).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TextBox 170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Additional Details / Future Development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08617" y="1131598"/>
            <a:ext cx="2091742" cy="308617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8617" y="1131598"/>
            <a:ext cx="2091742" cy="288043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08617" y="1159030"/>
            <a:ext cx="2091742" cy="246894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11490" y="1474506"/>
            <a:ext cx="1885997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MVP (current)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1490" y="1783124"/>
            <a:ext cx="1885997" cy="2400360"/>
          </a:xfrm>
          <a:prstGeom prst="rect">
            <a:avLst/>
          </a:prstGeom>
          <a:noFill/>
        </p:spPr>
        <p:txBody>
          <a:bodyPr wrap="square" lIns="34290" tIns="13716" rIns="34290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A73E8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Risk engine v1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1A73E8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Manager + Field roles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1A73E8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Gemini-powered chat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1A73E8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Cloud Run deploy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2489516" y="1131598"/>
            <a:ext cx="2091742" cy="308617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2489516" y="1131598"/>
            <a:ext cx="2091742" cy="288043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489516" y="1159030"/>
            <a:ext cx="2091742" cy="246894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592388" y="1474506"/>
            <a:ext cx="1885997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Enterprise hardening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592388" y="1783124"/>
            <a:ext cx="1885997" cy="2400360"/>
          </a:xfrm>
          <a:prstGeom prst="rect">
            <a:avLst/>
          </a:prstGeom>
          <a:noFill/>
        </p:spPr>
        <p:txBody>
          <a:bodyPr wrap="square" lIns="34290" tIns="13716" rIns="34290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IoT sensor ingest (GPS, temp, humidity)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Predictive ETA via ML model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Carbon-footprint tracking per route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16A34A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SAP / Oracle TMS connectors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4670414" y="1131598"/>
            <a:ext cx="2091742" cy="308617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4670414" y="1131598"/>
            <a:ext cx="2091742" cy="288043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4670414" y="1159030"/>
            <a:ext cx="2091742" cy="246894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773287" y="1474506"/>
            <a:ext cx="1885997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Scale &amp; intelligence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773287" y="1783124"/>
            <a:ext cx="1885997" cy="2400360"/>
          </a:xfrm>
          <a:prstGeom prst="rect">
            <a:avLst/>
          </a:prstGeom>
          <a:noFill/>
        </p:spPr>
        <p:txBody>
          <a:bodyPr wrap="square" lIns="34290" tIns="13716" rIns="34290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EA580C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Multi-tenant SaaS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EA580C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Native iOS / Android apps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EA580C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Multi-language UI (Hindi, ES, ZH, AR)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EA580C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Anomaly-detection auto-alerts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851313" y="1131598"/>
            <a:ext cx="2091742" cy="308617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6851313" y="1131598"/>
            <a:ext cx="2091742" cy="288043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851313" y="1159030"/>
            <a:ext cx="2091742" cy="246894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954185" y="1474506"/>
            <a:ext cx="1885997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Trust &amp; ecosystem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954185" y="1783124"/>
            <a:ext cx="1885997" cy="2400360"/>
          </a:xfrm>
          <a:prstGeom prst="rect">
            <a:avLst/>
          </a:prstGeom>
          <a:noFill/>
        </p:spPr>
        <p:txBody>
          <a:bodyPr wrap="square" lIns="34290" tIns="13716" rIns="34290" bIns="13716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DC2626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Blockchain provenance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DC2626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Customs / port API integrations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DC2626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Insurance-grade risk reports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DC2626"/>
                </a:solidFill>
                <a:latin typeface="Calibri"/>
              </a:rPr>
              <a:t>●  </a:t>
            </a:r>
            <a:r>
              <a:rPr sz="1050">
                <a:solidFill>
                  <a:srgbClr val="475569"/>
                </a:solidFill>
                <a:latin typeface="Calibri"/>
              </a:rPr>
              <a:t>Marketplace of carrier partners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TextBox 176"/>
          <p:cNvSpPr txBox="1"/>
          <p:nvPr/>
        </p:nvSpPr>
        <p:spPr>
          <a:xfrm>
            <a:off x="342908" y="582944"/>
            <a:ext cx="8435550" cy="44578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Project Links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342908" y="1131598"/>
            <a:ext cx="8435550" cy="6858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342908" y="1131598"/>
            <a:ext cx="109730" cy="685817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582944" y="1200180"/>
            <a:ext cx="4114902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Calibri"/>
              </a:rPr>
              <a:t>GITHUB PUBLIC REPOSITORY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82944" y="1405925"/>
            <a:ext cx="5829445" cy="30861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github.com/&lt;your-username&gt;/chainshield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446681" y="1351059"/>
            <a:ext cx="2331778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Code  ·  Open-source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42908" y="1885997"/>
            <a:ext cx="8435550" cy="6858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342908" y="1885997"/>
            <a:ext cx="109730" cy="685817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582944" y="1954578"/>
            <a:ext cx="4114902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DEMO VIDEO (3 MIN)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82944" y="2160324"/>
            <a:ext cx="5829445" cy="30861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youtu.be/&lt;your-video-id&gt;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446681" y="2105458"/>
            <a:ext cx="2331778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Walkthrough of all modules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42908" y="2640396"/>
            <a:ext cx="8435550" cy="6858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342908" y="2640396"/>
            <a:ext cx="109730" cy="685817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582944" y="2708977"/>
            <a:ext cx="4114902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Calibri"/>
              </a:rPr>
              <a:t>MVP LINK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82944" y="2914722"/>
            <a:ext cx="5829445" cy="30861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chainshield-mvp.vercel.app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446681" y="2859857"/>
            <a:ext cx="2331778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Deployed frontend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342908" y="3394794"/>
            <a:ext cx="8435550" cy="6858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342908" y="3394794"/>
            <a:ext cx="109730" cy="685817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582944" y="3463376"/>
            <a:ext cx="4114902" cy="219461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WORKING PROTOTYPE LINK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82944" y="3669121"/>
            <a:ext cx="5829445" cy="308617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chainshield-api.run.app  ·  chainshield-mvp.vercel.app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46681" y="3614256"/>
            <a:ext cx="2331778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End-to-end demo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342908" y="4183484"/>
            <a:ext cx="8435550" cy="377199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480072" y="4217775"/>
            <a:ext cx="8229805" cy="308617"/>
          </a:xfrm>
          <a:prstGeom prst="rect">
            <a:avLst/>
          </a:prstGeom>
          <a:noFill/>
        </p:spPr>
        <p:txBody>
          <a:bodyPr wrap="square" lIns="34290" tIns="13716" rIns="34290" bIns="13716" anchor="ctr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Calibri"/>
              </a:rPr>
              <a:t>Replace each URL above with your actual repository, deployed app and YouTube demo link before submitting.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Rectangle 181"/>
          <p:cNvSpPr/>
          <p:nvPr/>
        </p:nvSpPr>
        <p:spPr>
          <a:xfrm>
            <a:off x="0" y="960144"/>
            <a:ext cx="9141942" cy="41834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42908" y="1645961"/>
            <a:ext cx="8435550" cy="822980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ChainShield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42908" y="2537523"/>
            <a:ext cx="8435550" cy="411490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2000" b="0">
                <a:solidFill>
                  <a:srgbClr val="CBD5E1"/>
                </a:solidFill>
                <a:latin typeface="Calibri"/>
              </a:rPr>
              <a:t>Predict disruptions. Re-route in seconds. Deliver on time.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42908" y="3429085"/>
            <a:ext cx="8435550" cy="411490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3600" b="1">
                <a:solidFill>
                  <a:srgbClr val="F9AB00"/>
                </a:solidFill>
                <a:latin typeface="Calibri"/>
              </a:rPr>
              <a:t>Thank You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42908" y="3909157"/>
            <a:ext cx="8435550" cy="274326"/>
          </a:xfrm>
          <a:prstGeom prst="rect">
            <a:avLst/>
          </a:prstGeom>
          <a:noFill/>
        </p:spPr>
        <p:txBody>
          <a:bodyPr wrap="square" lIns="34290" tIns="13716" rIns="34290" bIns="13716" anchor="t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Solution Challenge 2026  ·  Smart Supply Chains Track  ·  Built with Google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1202</Words>
  <Application>Microsoft Office PowerPoint</Application>
  <PresentationFormat>On-screen Show (16:9)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bhavik visani</cp:lastModifiedBy>
  <cp:revision>4</cp:revision>
  <dcterms:modified xsi:type="dcterms:W3CDTF">2026-04-28T16:48:16Z</dcterms:modified>
</cp:coreProperties>
</file>